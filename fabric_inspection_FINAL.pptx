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164592"/>
            <a:ext cx="36576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155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M.Tech Project Work Final Review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444752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Fabric Defect Detection and Quality Assessment Using Improved YOLOv8 Classification Framework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097280" y="2697480"/>
            <a:ext cx="6949440" cy="0"/>
          </a:xfrm>
          <a:prstGeom prst="line">
            <a:avLst/>
          </a:prstGeom>
          <a:noFill/>
          <a:ln w="19050">
            <a:solidFill>
              <a:srgbClr val="4F81B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788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044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Udayagiri Hari Chandu  (Reg. No: XXXXXXXXXX)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33192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M.Tech – Artificial Intelligence &amp; Machine Learning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36758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Guidance of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3904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Geetha 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4160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Professor &amp; Associate Dean (Research), Dept. of CSE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4389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School of Computer Science and Engineering | Vellore Institute of Technology, Chennai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Abstract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 rot="2700000">
            <a:off x="411480" y="804672"/>
            <a:ext cx="91440" cy="914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241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Introduction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 rot="2700000">
            <a:off x="411480" y="1143000"/>
            <a:ext cx="91440" cy="914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6245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Literature Survey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 rot="2700000">
            <a:off x="411480" y="1481328"/>
            <a:ext cx="91440" cy="914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007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 Research Gaps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 rot="2700000">
            <a:off x="411480" y="1819656"/>
            <a:ext cx="91440" cy="914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391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 Objectives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 rot="2700000">
            <a:off x="411480" y="2157984"/>
            <a:ext cx="91440" cy="914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377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 Module Identification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 rot="2700000">
            <a:off x="411480" y="2496312"/>
            <a:ext cx="91440" cy="914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157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 System Architecture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 rot="2700000">
            <a:off x="411480" y="2834640"/>
            <a:ext cx="91440" cy="914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685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 Development &amp; Integration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 rot="2700000">
            <a:off x="4800600" y="804672"/>
            <a:ext cx="91440" cy="914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0241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 Prototype / Research Framework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 rot="2700000">
            <a:off x="4800600" y="1143000"/>
            <a:ext cx="91440" cy="914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36245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  Outcome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 rot="2700000">
            <a:off x="4800600" y="1481328"/>
            <a:ext cx="91440" cy="914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7007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11.  Results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 rot="2700000">
            <a:off x="4800600" y="1819656"/>
            <a:ext cx="91440" cy="914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0391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12.  Timeline / Gantt Chart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 rot="2700000">
            <a:off x="4800600" y="2157984"/>
            <a:ext cx="91440" cy="914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2377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13.  References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 rot="2700000">
            <a:off x="4800600" y="2496312"/>
            <a:ext cx="91440" cy="914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ABSTRACT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Woven fabric inspection at industrial scale demands two capabilities that rarely appear together: a classifier fast enough to match live camera frame rates, and a decision engine that converts classification outputs into commercially actionable quality verdicts. This work presents a complete fabric inspection framework built around a modified YOLOv8 classification backbone trained on the TILDA Textile Texture Database (3,200 images, 8 textile types). After a systematic audit of its error classes, two calibration sequences (lamp-off and camera-distance variants) and one handling artifact (crease) were excluded, leaving four true defect categories: Holes, Stains, Broken Threads, and Misweaves.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monitoring application wraps the classifier in a three-panel GUI delivering live annotated camera feed, session controls with user-defined market rate input, and a structured quality report on session termination. Quality score (0–100) is derived from per-class severity weighting; a quadratic price penalty maps the score to a suggested selling price. The system sustains 24 FPS on a standard laptop CPU without a GPU — suitable for deployment alongside textile inspection frames in factory environments.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INTRODUCTION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Fabric defect-driven write-offs account for 3–8% of total textile output value globally.</a:t>
            </a:r>
            <a:endParaRPr lang="en-US" sz="2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inspection degrades after prolonged operation, missing 15–20% of defects under fatigue.</a:t>
            </a:r>
            <a:endParaRPr lang="en-US" sz="2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Modern looms exceed 200 m/hr — well beyond human inspection throughput.</a:t>
            </a:r>
            <a:endParaRPr lang="en-US" sz="2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requirements define an industrial-grade system: (1) ≥25 FPS real-time classification, (2) CPU-only deployment without GPU hardware, and (3) operator-interpretable quality output.</a:t>
            </a:r>
            <a:endParaRPr lang="en-US" sz="2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work adapts YOLOv8-cls to the TILDA benchmark with CLAHE preprocessing, domain-specific augmentation, and a quality-and-price reporting engine.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080760" y="777240"/>
            <a:ext cx="2743200" cy="114300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80760" y="777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 FPS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08076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Laptop CPU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2148840"/>
            <a:ext cx="2743200" cy="114300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21488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88.5%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8076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Top-1 Accuracy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3520440"/>
            <a:ext cx="2743200" cy="114300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3520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Classes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8076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Defect Types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LITERATURE SURVEY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658368"/>
          <a:ext cx="877824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560320"/>
                <a:gridCol w="2011680"/>
                <a:gridCol w="2103120"/>
                <a:gridCol w="16916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S.No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Article Title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Techniques Used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Key Findings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Limitations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Deep Learning (LeCun et al., 2015)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CNNs, backprop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CNNs learn discriminative features end-to-end; foundational for all visual inspection approaches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Requires large labelled datasets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Fabric defect detection using CNN vs SVM (Yang et al., 2020)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VGG-16 fine-tune, SVM-GLCM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CNN reduced per-class FP rate by 34% over SVM baseline on multi-class fabric data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bounding-box localisation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Multi-scale feature + attention (Zhang et al., 2021)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ResNet-50 + SE blocks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+2.1 pp accuracy over plain ResNet for textile classification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Tested under controlled illumination only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CNN on industrial camera (Ren et al., 2022)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Custom CNN, data aug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Validated under variable lighting and belt speed conditions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Single defect class; no quality scoring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 (CONTD.)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658368"/>
          <a:ext cx="877824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560320"/>
                <a:gridCol w="2011680"/>
                <a:gridCol w="2103120"/>
                <a:gridCol w="16916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S.No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Article Title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Techniques Used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Key Findings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Limitations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Faster R-CNN for fabric (Zhou et al., 2023)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2-stage detection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 per-class AP but &lt;18 FPS; incompatible with real-time line inspection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Latency too high for live deployment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YOLOv5 for fabric (Li et al., 2023)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YOLOv5 single-stage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mAP &gt;0.85 on in-house woven fabric dataset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Requires per-fabric anchor tuning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YOLOv8 (Jocher et al., 2023)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Anchor-free, C2f, decoupled head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SOTA on MS-COCO; anchor-free head avoids aspect-ratio tuning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 validated on textile benchmark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YOLOv9 – PGI (Wang et al., 2024)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Programmable gradient information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+0.5 pp mAP@0.5:0.95 over YOLOv8 with 15% fewer parameters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Natural-image benchmark only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 (CONTD.)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658368"/>
          <a:ext cx="877824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560320"/>
                <a:gridCol w="2011680"/>
                <a:gridCol w="2103120"/>
                <a:gridCol w="16916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S.No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Article Title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Techniques Used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Key Findings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Limitations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RT-DETR (Zhao et al., 2024)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ResNet encoder + deformable attention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Matches YOLOv8 accuracy without NMS, lower end-to-end latency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 tested on periodic-texture fabric data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Scale-adaptive transformer (Chen et al., 2024)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Swin transformer, multi-scale attention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Improved classification on woven fabric but stopped at classification step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quality assessment or price recommendation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RESEARCH GAPS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502920" cy="7772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6858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704088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Detection vs. Classification for whole-image datasets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978408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TILDA provides one label per image with no bounding boxes. Detection methods applied to such data require synthetic patch-pasting, which corrupts training — converging to P = 0.25 (random guessing). No prior work explicitly documents this failure mode.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746504"/>
            <a:ext cx="502920" cy="7772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746504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❷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1764792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Uncleaned calibration classes in TILDA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" y="2039112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of eight error classes (e6: lamp-off, e7: camera-distance) are imaging artifacts, not fabric defects. Inclusion corrupts classifier training. This finding is undocumented in prior TILDA-based publications.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2807208"/>
            <a:ext cx="502920" cy="7772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807208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248" y="2825496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closed-loop quality and price reporting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" y="3099816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systems treat detection accuracy as the terminal output. The gap between raw defect counts and a commercially actionable selling-price recommendation has not been addressed in any published fabric inspection framework.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" y="3867912"/>
            <a:ext cx="502920" cy="7772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867912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❹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" y="3886200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GPU dependency prevents low-cost deployment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" y="4160520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published inspection systems require dedicated GPU hardware for real-time inference, precluding deployment at mid-scale mills without capital investment. CPU-deployable 24 FPS operation has not been demonstrated for multi-class fabric inspection.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OBJECTIVES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04088"/>
            <a:ext cx="347472" cy="347472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04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68580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 a YOLOv8 classification pipeline specifically adapted for the TILDA textile benchmark, incorporating CLAHE contrast enhancement and a five-component augmentation strategy suited to the 8-bit greyscale acquisition conditions.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1563624"/>
            <a:ext cx="347472" cy="347472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56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545336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Discover, document, and exclude the two previously unreported calibration error classes (e6 lamp-off, e7 camera-distance) that corrupt TILDA-based training when included.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" y="2423160"/>
            <a:ext cx="347472" cy="347472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40487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a novel quality scoring formula combining per-class severity weighting (Hole=10, Broken Thread=7, Misweave=5, Stain=3) with a quadratic price penalty function to produce commercially grounded selling-price recommendations.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8600" y="3282696"/>
            <a:ext cx="347472" cy="347472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3282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26440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a complete CPU-deployable real-time monitoring application with a three-panel graphical interface operable by non-specialist factory personnel at ≥24 FPS without a GPU.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28600" y="4142232"/>
            <a:ext cx="347472" cy="347472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4142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4123944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Analyse per-class accuracy to identify the broken-thread resolution bottleneck and propose a mechanistic explanation and architectural fix path for future work.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MODULE IDENTIFICATION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667512"/>
            <a:ext cx="42976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4F81BD"/>
            </a:solidFill>
            <a:prstDash val="solid"/>
          </a:ln>
          <a:effectLst>
            <a:outerShdw sx="100000" sy="100000" kx="0" ky="0" algn="bl" rotWithShape="0" blurRad="50800" dist="25400" dir="8100000">
              <a:srgbClr val="AAAAAA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667512"/>
            <a:ext cx="4297680" cy="3200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675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Camera Capture Module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014984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OpenCV-based frame acquisition from USB/laptop camera. Writes frames to shared buffer protected by threading.Lock at up to 200 FPS ceiling.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2084832"/>
            <a:ext cx="42976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4F81BD"/>
            </a:solidFill>
            <a:prstDash val="solid"/>
          </a:ln>
          <a:effectLst>
            <a:outerShdw sx="100000" sy="100000" kx="0" ky="0" algn="bl" rotWithShape="0" blurRad="50800" dist="25400" dir="8100000">
              <a:srgbClr val="AAAAAA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084832"/>
            <a:ext cx="4297680" cy="3200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0848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Preprocessing Module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2432304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CLAHE contrast enhancement (clip=2.0, tile 8×8), greyscale→RGB conversion, letterbox-pad to 640×640, centre-crop to 224×224 for inference.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3502152"/>
            <a:ext cx="42976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4F81BD"/>
            </a:solidFill>
            <a:prstDash val="solid"/>
          </a:ln>
          <a:effectLst>
            <a:outerShdw sx="100000" sy="100000" kx="0" ky="0" algn="bl" rotWithShape="0" blurRad="50800" dist="25400" dir="8100000">
              <a:srgbClr val="AAAAAA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502152"/>
            <a:ext cx="4297680" cy="3200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5021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YOLOv8-cls Inference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" y="3849624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YOLOv8m-cls backbone with dense C2f connectivity. Runs every 3rd frame for CPU efficiency. Returns class name + confidence per frame.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667512"/>
            <a:ext cx="42976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4F81BD"/>
            </a:solidFill>
            <a:prstDash val="solid"/>
          </a:ln>
          <a:effectLst>
            <a:outerShdw sx="100000" sy="100000" kx="0" ky="0" algn="bl" rotWithShape="0" blurRad="50800" dist="25400" dir="8100000">
              <a:srgbClr val="AAAAAA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667512"/>
            <a:ext cx="4297680" cy="3200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6675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Logger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1014984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Records every defect event as (timestamp, class, confidence). In-memory during session; exports to structured CSV on demand.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2084832"/>
            <a:ext cx="42976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4F81BD"/>
            </a:solidFill>
            <a:prstDash val="solid"/>
          </a:ln>
          <a:effectLst>
            <a:outerShdw sx="100000" sy="100000" kx="0" ky="0" algn="bl" rotWithShape="0" blurRad="50800" dist="25400" dir="8100000">
              <a:srgbClr val="AAAAAA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084832"/>
            <a:ext cx="4297680" cy="3200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0848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Quality &amp; Price Engine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2432304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Computes weighted defect rate, quality score Q∈[0,100], letter grade A–F, and suggested price Ps = Pmax × (Q/100)².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SYSTEM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1554480" cy="10058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7772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Camera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(USB/Laptop)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37360" y="1280160"/>
            <a:ext cx="365760" cy="0"/>
          </a:xfrm>
          <a:prstGeom prst="line">
            <a:avLst/>
          </a:prstGeom>
          <a:noFill/>
          <a:ln w="25400">
            <a:solidFill>
              <a:srgbClr val="1F49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93392" y="1170432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497D"/>
                </a:solidFill>
              </a:rPr>
              <a:t>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20240" y="777240"/>
            <a:ext cx="1554480" cy="10058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7772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CLAHE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1280160"/>
            <a:ext cx="365760" cy="0"/>
          </a:xfrm>
          <a:prstGeom prst="line">
            <a:avLst/>
          </a:prstGeom>
          <a:noFill/>
          <a:ln w="25400">
            <a:solidFill>
              <a:srgbClr val="1F49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0752" y="1170432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497D"/>
                </a:solidFill>
              </a:rPr>
              <a:t>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777240"/>
            <a:ext cx="1554480" cy="100584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7772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YOLOv8-cls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best.pt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12080" y="1280160"/>
            <a:ext cx="365760" cy="0"/>
          </a:xfrm>
          <a:prstGeom prst="line">
            <a:avLst/>
          </a:prstGeom>
          <a:noFill/>
          <a:ln w="25400">
            <a:solidFill>
              <a:srgbClr val="1F49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68112" y="1170432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497D"/>
                </a:solidFill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94960" y="777240"/>
            <a:ext cx="1554480" cy="10058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7772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Logger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49440" y="1280160"/>
            <a:ext cx="365760" cy="0"/>
          </a:xfrm>
          <a:prstGeom prst="line">
            <a:avLst/>
          </a:prstGeom>
          <a:noFill/>
          <a:ln w="25400">
            <a:solidFill>
              <a:srgbClr val="1F497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05472" y="1170432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497D"/>
                </a:solidFill>
              </a:rPr>
              <a:t>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32320" y="777240"/>
            <a:ext cx="1554480" cy="100584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7772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Quality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Price Engine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82880" y="1965960"/>
            <a:ext cx="8778240" cy="731520"/>
          </a:xfrm>
          <a:prstGeom prst="rect">
            <a:avLst/>
          </a:prstGeom>
          <a:solidFill>
            <a:srgbClr val="EEF4FB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0116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Threading Model: Camera thread → shared Lock buffer → Main thread polls every 30 ms via after() scheduler → Canvas refresh without queue flooding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28600" y="283464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Tkinter GUI — 3 Panels: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28600" y="3127248"/>
            <a:ext cx="2834640" cy="1764792"/>
          </a:xfrm>
          <a:prstGeom prst="rect">
            <a:avLst/>
          </a:prstGeom>
          <a:solidFill>
            <a:srgbClr val="FFFFFF"/>
          </a:solidFill>
          <a:ln w="15240">
            <a:solidFill>
              <a:srgbClr val="4F81B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3127248"/>
            <a:ext cx="2834640" cy="29260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1272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Camera Panel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" y="3447288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640×480 feed · Defect class banner · Confidence · FPS · Colour-coded border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0" y="3127248"/>
            <a:ext cx="2834640" cy="1764792"/>
          </a:xfrm>
          <a:prstGeom prst="rect">
            <a:avLst/>
          </a:prstGeom>
          <a:solidFill>
            <a:srgbClr val="FFFFFF"/>
          </a:solidFill>
          <a:ln w="15240">
            <a:solidFill>
              <a:srgbClr val="4F81B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3127248"/>
            <a:ext cx="2834640" cy="29260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31272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Controls Panel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91840" y="3447288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Market rate entry · Confidence slider · Session timer · Start/Stop buttons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72200" y="3127248"/>
            <a:ext cx="2834640" cy="1764792"/>
          </a:xfrm>
          <a:prstGeom prst="rect">
            <a:avLst/>
          </a:prstGeom>
          <a:solidFill>
            <a:srgbClr val="FFFFFF"/>
          </a:solidFill>
          <a:ln w="15240">
            <a:solidFill>
              <a:srgbClr val="4F81B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2200" y="3127248"/>
            <a:ext cx="2834640" cy="29260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31272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Analysis Panel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63640" y="3447288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Defect breakdown · Quality score · Grade A–F · Suggested price · Export CSV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DEVELOPMENT &amp; INTEGRATION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713232"/>
            <a:ext cx="4297680" cy="2743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132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Pipeline (Google Colab – T4 GPU)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014984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YOLOv8m-cls, ImageNet pretrained → TILDA fine-tune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CLAHE + letterbox preprocessing for all 2,008 images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70/15/15 stratified split | batch 32 | 50 epochs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AdamW + cosine annealing | FP16 AMP | patience 20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2700000">
            <a:off x="256032" y="1088136"/>
            <a:ext cx="64008" cy="6400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256032" y="1472184"/>
            <a:ext cx="64008" cy="6400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256032" y="1856232"/>
            <a:ext cx="64008" cy="6400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256032" y="2240280"/>
            <a:ext cx="64008" cy="6400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2816352"/>
            <a:ext cx="4297680" cy="2743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8163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Audit (Critical Finding)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3118104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Systematically read all description .txt files per e-folder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e6 = lamp-off images → excluded (imaging artifact)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e7 = camera-distance calibration → excluded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true defect classes retained: Hole, Stain, Broken Thread, Misweave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rot="2700000">
            <a:off x="256032" y="3191256"/>
            <a:ext cx="64008" cy="6400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256032" y="3575304"/>
            <a:ext cx="64008" cy="6400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256032" y="3959352"/>
            <a:ext cx="64008" cy="6400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256032" y="4343400"/>
            <a:ext cx="64008" cy="6400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713232"/>
            <a:ext cx="4297680" cy="2743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7132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Development (VS Code + Python)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1014984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OpenCV camera loop in background thread with Lock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Tkinter main thread polls buffer every 30 ms via after()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Inference every 3rd frame for CPU headroom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event log + CSV export with timestamped events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rot="2700000">
            <a:off x="4736592" y="1088136"/>
            <a:ext cx="64008" cy="6400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700000">
            <a:off x="4736592" y="1472184"/>
            <a:ext cx="64008" cy="6400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700000">
            <a:off x="4736592" y="1856232"/>
            <a:ext cx="64008" cy="6400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2700000">
            <a:off x="4736592" y="2240280"/>
            <a:ext cx="64008" cy="6400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816352"/>
            <a:ext cx="4297680" cy="27432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8163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Integration Challenge &amp; Solution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3118104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Challenge: Tkinter freezes when camera thread calls GUI methods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Solution: Strict thread isolation — camera never calls Tkinter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Result: Stable 24 FPS display on Intel i5 + Iris Xe, no GPU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Confidence threshold adjustable mid-session via slider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 rot="2700000">
            <a:off x="4736592" y="3191256"/>
            <a:ext cx="64008" cy="6400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2700000">
            <a:off x="4736592" y="3575304"/>
            <a:ext cx="64008" cy="6400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2700000">
            <a:off x="4736592" y="3959352"/>
            <a:ext cx="64008" cy="6400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2700000">
            <a:off x="4736592" y="4343400"/>
            <a:ext cx="64008" cy="6400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PROTOTYPE / RESEARCH FRAMEWORK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658368"/>
            <a:ext cx="4251960" cy="29260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83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Working Prototype Description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rot="2700000">
            <a:off x="228600" y="1005840"/>
            <a:ext cx="256032" cy="256032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87552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fully functional desktop application (app.py) built with Python 3.14, Tkinter, and OpenCV that captures live camera frames and classifies fabric defects in real time.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 rot="2700000">
            <a:off x="228600" y="1792224"/>
            <a:ext cx="256032" cy="256032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73936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application loads the trained YOLOv8m-cls model (best.pt, 52 MB) at startup and runs inference every 3rd frame to sustain 24 FPS on an Intel Core i5 CPU with Intel Iris Xe graphics — no GPU required.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 rot="2700000">
            <a:off x="228600" y="2578608"/>
            <a:ext cx="256032" cy="256032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6032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detected defect is displayed via a colour-coded banner and border overlay on the live 640×480 camera feed: Yellow = Hole, Magenta = Stain, Orange = Broken Thread, Cyan = Misweave.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 rot="2700000">
            <a:off x="228600" y="3364992"/>
            <a:ext cx="256032" cy="256032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346704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pressing Stop, the system computes the quality score Q = (1 − rw) × 100 and suggested price Ps = Pmax × (Q/100)² and displays a full inspection report with per-class defect counts.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 rot="2700000">
            <a:off x="228600" y="4151376"/>
            <a:ext cx="256032" cy="256032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133088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confidence threshold slider (0.40–0.95) allows real-time sensitivity tuning without restarting the session, and the full defect event log is exportable as a timestamped CSV file.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658368"/>
            <a:ext cx="4251960" cy="29260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6583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Framework Setup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rot="2700000">
            <a:off x="4736592" y="1005840"/>
            <a:ext cx="256032" cy="256032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987552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Dataset: TILDA Textile Texture Database (LMB, Uni. Freiburg, 1996) — 3,200 TIF images at 768×512 px, 8-bit greyscale. After systematic text-file audit, 2,008 images across 4 defect classes retained.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 rot="2700000">
            <a:off x="4736592" y="1792224"/>
            <a:ext cx="256032" cy="256032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02352" y="1773936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Preprocessing: CLAHE (clip=2.0, tile 8×8) applied to LAB L-channel → RGB → letterbox pad to 640×640 → centre-crop to 224×224 for classification inference. 70/15/15 stratified split.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 rot="2700000">
            <a:off x="4736592" y="2578608"/>
            <a:ext cx="256032" cy="256032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256032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training: YOLOv8m-cls fine-tuned from ImageNet weights on Google Colab (NVIDIA Tesla T4, 14.9 GB VRAM) using AdamW optimiser, cosine annealing LR, FP16 AMP, 50 epochs, patience 20.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 rot="2700000">
            <a:off x="4736592" y="3364992"/>
            <a:ext cx="256032" cy="256032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3346704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Augmentation pipeline: horizontal/vertical flip (p=0.5), rotation ±10°, colour jitter (brightness ±15%, contrast ±10%, saturation ±10%, hue ±3%), random erasing (p=0.4).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 rot="2700000">
            <a:off x="4736592" y="4151376"/>
            <a:ext cx="256032" cy="256032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02352" y="4133088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Evaluation: Top-1 accuracy, per-class precision/recall/F1, confusion matrix on held-out 300-image test set. Inference benchmarked at batch=1 on Intel i5 CPU (no GPU).</a:t>
            </a:r>
            <a:endParaRPr lang="en-US" sz="115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4663440"/>
            <a:ext cx="877824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 OUTCOME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" y="65836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Working Model Screenshot — Live Inspection Session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50976"/>
            <a:ext cx="5303520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" y="336499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Three-panel Tkinter GUI: (L) Live 640×480 annotated feed with Stain detected at conf 0.87  (C) Session controls with market rate, confidence slider, Start/Stop  (R) Full inspection report with quality grade A and suggested price ₹842.88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669280" y="6583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Insights &amp; Findings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0" y="950976"/>
            <a:ext cx="3291840" cy="91440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  <a:effectLst>
            <a:outerShdw sx="100000" sy="100000" kx="0" ky="0" algn="bl" rotWithShape="0" blurRad="50800" dist="25400" dir="8100000">
              <a:srgbClr val="AAAAAA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69280" y="95097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88.5%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669280" y="141732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Overall Top-1 Accuracy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69280" y="1975104"/>
            <a:ext cx="329184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50800" dist="25400" dir="8100000">
              <a:srgbClr val="AAAAAA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669280" y="197510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 FPS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669280" y="244144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CPU-Only, No GPU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669280" y="2999232"/>
            <a:ext cx="3291840" cy="9144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50800" dist="25400" dir="8100000">
              <a:srgbClr val="AAAAAA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669280" y="299923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Classes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669280" y="346557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Hole · Stain · Thread · Misweave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669280" y="4023360"/>
            <a:ext cx="3291840" cy="9144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50800" dist="25400" dir="8100000">
              <a:srgbClr val="AAAAAA">
                <a:alpha val="2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669280" y="402336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e6 &amp; e7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669280" y="448970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Calibration classes excluded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(first documented finding)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82880" y="3895344"/>
            <a:ext cx="8778240" cy="1024128"/>
          </a:xfrm>
          <a:prstGeom prst="rect">
            <a:avLst/>
          </a:prstGeom>
          <a:solidFill>
            <a:srgbClr val="EEF4FB"/>
          </a:solidFill>
          <a:ln w="10160">
            <a:solidFill>
              <a:srgbClr val="4F81B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0040" y="39319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Classification Summary: 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182880" y="4206240"/>
            <a:ext cx="1645920" cy="64008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82880" y="42245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2,008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82880" y="45262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images used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1947672" y="4206240"/>
            <a:ext cx="1645920" cy="640080"/>
          </a:xfrm>
          <a:prstGeom prst="rect">
            <a:avLst/>
          </a:prstGeom>
          <a:solidFill>
            <a:srgbClr val="4F81B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947672" y="42245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1,408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947672" y="45262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set (70%)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712464" y="4206240"/>
            <a:ext cx="1645920" cy="640080"/>
          </a:xfrm>
          <a:prstGeom prst="rect">
            <a:avLst/>
          </a:prstGeom>
          <a:solidFill>
            <a:srgbClr val="4F81B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712464" y="42245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300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3712464" y="45262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Validation (15%)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477256" y="4206240"/>
            <a:ext cx="1645920" cy="640080"/>
          </a:xfrm>
          <a:prstGeom prst="rect">
            <a:avLst/>
          </a:prstGeom>
          <a:solidFill>
            <a:srgbClr val="4F81B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477256" y="42245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300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5477256" y="45262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set (15%)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7242048" y="4206240"/>
            <a:ext cx="1645920" cy="640080"/>
          </a:xfrm>
          <a:prstGeom prst="rect">
            <a:avLst/>
          </a:prstGeom>
          <a:solidFill>
            <a:srgbClr val="4F81B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242048" y="42245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502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7242048" y="45262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Images per class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11. RESULTS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" y="65836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Performance Metrics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41832"/>
            <a:ext cx="4846320" cy="205740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941832"/>
          <a:ext cx="37947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77240"/>
                <a:gridCol w="777240"/>
                <a:gridCol w="7772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Class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Prec.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Top-1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Hole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92.0%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Stain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0.88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88.0%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Broken Thread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0.86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83.0%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Misweave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91.0%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Mean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0.885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88.5%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166360" y="235915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Inference Speed (CPU, Batch=1):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2615184"/>
          <a:ext cx="3794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68680"/>
                <a:gridCol w="914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FPS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YOLOv8s-cls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32.3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YOLOv8m-cls (ours)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41.7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YOLOv8l-cls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62.5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182880" y="3072384"/>
            <a:ext cx="8778240" cy="256032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274320" y="307238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Observations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 rot="2700000">
            <a:off x="228600" y="3401568"/>
            <a:ext cx="201168" cy="20116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30352" y="338328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Hole achieves highest top-1 accuracy (92.0%) owing to strong luminance contrast between perforation and back-lit woven substrate.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 rot="2700000">
            <a:off x="228600" y="3749040"/>
            <a:ext cx="201168" cy="20116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30352" y="3730752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Broken Thread lags by 5–9 pp across all metrics — root cause: a 1–2 px thread gap in the 768 px-wide TILDA image maps to &lt;1 px at 224×224, discarding the discriminative signal before it reaches any feature layer.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 rot="2700000">
            <a:off x="228600" y="4096512"/>
            <a:ext cx="201168" cy="20116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30352" y="4078224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loss and validation loss track within 0.08 units throughout — augmentation (flip, jitter, erasing) successfully prevents overfitting on 1,408 training images.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182880" y="4462272"/>
            <a:ext cx="8778240" cy="256032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274320" y="44622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Validation of Approach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 rot="2700000">
            <a:off x="228600" y="4773168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4F81BD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02920" y="4754880"/>
            <a:ext cx="8458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Classification mode (88.5%) outperforms detection mode (P = 0.25, random guessing) by 63.5 pp — proving that TILDA's whole-image labels require classification framing, not bounding-box detection.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 rot="2700000">
            <a:off x="228600" y="4956048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4F81BD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02920" y="4937760"/>
            <a:ext cx="8458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Quadratic price penalty (Ps = Pmax × (Q/100)²) validated against 5 defect-rate scenarios: 0.5% → Rs.992, 8% → Rs.865, 18% → Rs.640, 35% → Rs.336, 60% → Rs.78 — consistent with commercial textile grading norms.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12. TIMELINE / GANTT CHART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880360" y="667512"/>
            <a:ext cx="1051560" cy="29260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80360" y="66751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31920" y="667512"/>
            <a:ext cx="1051560" cy="29260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66751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83480" y="667512"/>
            <a:ext cx="1051560" cy="29260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66751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667512"/>
            <a:ext cx="1051560" cy="29260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66751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86600" y="667512"/>
            <a:ext cx="1051560" cy="29260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66751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667512"/>
            <a:ext cx="1051560" cy="29260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66751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89720" y="667512"/>
            <a:ext cx="640080" cy="29260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9720" y="6675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" y="960120"/>
            <a:ext cx="269748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987552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 &amp; Problem Definition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80360" y="960120"/>
            <a:ext cx="1051560" cy="475488"/>
          </a:xfrm>
          <a:prstGeom prst="rect">
            <a:avLst/>
          </a:prstGeom>
          <a:solidFill>
            <a:srgbClr val="4F81B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0" y="960120"/>
            <a:ext cx="1051560" cy="475488"/>
          </a:xfrm>
          <a:prstGeom prst="rect">
            <a:avLst/>
          </a:prstGeom>
          <a:solidFill>
            <a:srgbClr val="4F81B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83480" y="960120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960120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960120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960120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89720" y="960120"/>
            <a:ext cx="64008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89720" y="96012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37160" y="1490472"/>
            <a:ext cx="26974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151790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TILDA Dataset Analysis &amp; Audit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880360" y="1490472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31920" y="1490472"/>
            <a:ext cx="1051560" cy="475488"/>
          </a:xfrm>
          <a:prstGeom prst="rect">
            <a:avLst/>
          </a:prstGeom>
          <a:solidFill>
            <a:srgbClr val="4F81B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83480" y="1490472"/>
            <a:ext cx="1051560" cy="475488"/>
          </a:xfrm>
          <a:prstGeom prst="rect">
            <a:avLst/>
          </a:prstGeom>
          <a:solidFill>
            <a:srgbClr val="4F81B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35040" y="1490472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86600" y="1490472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38160" y="1490472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89720" y="1490472"/>
            <a:ext cx="6400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89720" y="14904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37160" y="2020824"/>
            <a:ext cx="269748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2880" y="2048256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Preprocessing Pipeline (CLAHE)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880360" y="2020824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931920" y="2020824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83480" y="2020824"/>
            <a:ext cx="1051560" cy="475488"/>
          </a:xfrm>
          <a:prstGeom prst="rect">
            <a:avLst/>
          </a:prstGeom>
          <a:solidFill>
            <a:srgbClr val="4F81B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2020824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86600" y="2020824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138160" y="2020824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89720" y="2020824"/>
            <a:ext cx="64008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89720" y="202082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137160" y="2551176"/>
            <a:ext cx="26974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2880" y="2578608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YOLOv8-cls Training (Colab)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880360" y="2551176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931920" y="2551176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983480" y="2551176"/>
            <a:ext cx="1051560" cy="475488"/>
          </a:xfrm>
          <a:prstGeom prst="rect">
            <a:avLst/>
          </a:prstGeom>
          <a:solidFill>
            <a:srgbClr val="4F81B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35040" y="2551176"/>
            <a:ext cx="1051560" cy="475488"/>
          </a:xfrm>
          <a:prstGeom prst="rect">
            <a:avLst/>
          </a:prstGeom>
          <a:solidFill>
            <a:srgbClr val="4F81B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086600" y="2551176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138160" y="2551176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189720" y="2551176"/>
            <a:ext cx="6400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89720" y="2551176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137160" y="3081528"/>
            <a:ext cx="269748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82880" y="3108960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Development (GUI)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880360" y="3081528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931920" y="3081528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983480" y="3081528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035040" y="3081528"/>
            <a:ext cx="1051560" cy="475488"/>
          </a:xfrm>
          <a:prstGeom prst="rect">
            <a:avLst/>
          </a:prstGeom>
          <a:solidFill>
            <a:srgbClr val="4F81B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086600" y="3081528"/>
            <a:ext cx="1051560" cy="475488"/>
          </a:xfrm>
          <a:prstGeom prst="rect">
            <a:avLst/>
          </a:prstGeom>
          <a:solidFill>
            <a:srgbClr val="4F81B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138160" y="3081528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189720" y="3081528"/>
            <a:ext cx="64008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189720" y="308152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137160" y="3611880"/>
            <a:ext cx="26974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82880" y="3639312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Quality &amp; Price Engine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2880360" y="3611880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931920" y="3611880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983480" y="3611880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35040" y="3611880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086600" y="3611880"/>
            <a:ext cx="1051560" cy="475488"/>
          </a:xfrm>
          <a:prstGeom prst="rect">
            <a:avLst/>
          </a:prstGeom>
          <a:solidFill>
            <a:srgbClr val="4F81B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138160" y="3611880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189720" y="3611880"/>
            <a:ext cx="6400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189720" y="361188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137160" y="4142232"/>
            <a:ext cx="269748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82880" y="416966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 &amp; Bug Fixing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2880360" y="4142232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931920" y="4142232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983480" y="4142232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035040" y="4142232"/>
            <a:ext cx="105156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086600" y="4142232"/>
            <a:ext cx="1051560" cy="475488"/>
          </a:xfrm>
          <a:prstGeom prst="rect">
            <a:avLst/>
          </a:prstGeom>
          <a:solidFill>
            <a:srgbClr val="4F81B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138160" y="4142232"/>
            <a:ext cx="1051560" cy="475488"/>
          </a:xfrm>
          <a:prstGeom prst="rect">
            <a:avLst/>
          </a:prstGeom>
          <a:solidFill>
            <a:srgbClr val="4F81B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189720" y="4142232"/>
            <a:ext cx="640080" cy="475488"/>
          </a:xfrm>
          <a:prstGeom prst="rect">
            <a:avLst/>
          </a:prstGeom>
          <a:solidFill>
            <a:srgbClr val="F5F8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189720" y="414223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137160" y="4672584"/>
            <a:ext cx="26974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82880" y="4700016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Paper Writing &amp; Submission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2880360" y="4672584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931920" y="4672584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983480" y="4672584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035040" y="4672584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086600" y="4672584"/>
            <a:ext cx="1051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138160" y="4672584"/>
            <a:ext cx="1051560" cy="475488"/>
          </a:xfrm>
          <a:prstGeom prst="rect">
            <a:avLst/>
          </a:prstGeom>
          <a:solidFill>
            <a:srgbClr val="4F81B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189720" y="4672584"/>
            <a:ext cx="6400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189720" y="467258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5100"/>
                </a:solidFill>
              </a:rPr>
              <a:t>▶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13. REFERENCES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67512"/>
            <a:ext cx="8549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H. Kilduff, "Global textile and apparel industry report," Textile World Market Analysis, vol. 14, no. 2, pp. 1–18, 2022.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8549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A. Kumar, "Computer-vision-based fabric defect detection: A survey," IEEE Trans. Ind. Electron., vol. 55, no. 1, pp. 348–363, 2008.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527048"/>
            <a:ext cx="8549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J. Yang et al., "Fabric defect detection using a CNN compared with a SVM," J. Text. Inst., vol. 111, no. 12, pp. 1834–1843, 2020.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956816"/>
            <a:ext cx="8549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Y. LeCun, Y. Bengio, and G. Hinton, "Deep learning," Nature, vol. 521, pp. 436–444, 2015.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386584"/>
            <a:ext cx="8549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J. Redmon et al., "You only look once: Unified, real-time object detection," in Proc. IEEE CVPR, 2016, pp. 779–788.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816352"/>
            <a:ext cx="8549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[6] H. Y. T. Ngan et al., "Automated fabric defect detection — a review," Image Vis. Comput., vol. 29, no. 7, pp. 442–458, 2011.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3246120"/>
            <a:ext cx="8549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[7] R. M. Haralick et al., "Textural features for image classification," IEEE Trans. Syst., Man, Cybern., vol. SMC-3, pp. 610–621, 1973.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3675888"/>
            <a:ext cx="8549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[8] S. Mallat, "A theory for multiresolution signal decomposition," IEEE Trans. PAMI, vol. 11, pp. 674–693, 1989.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4105656"/>
            <a:ext cx="8549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[9] K. He et al., "Deep residual learning for image recognition," in Proc. IEEE CVPR, 2016, pp. 770–778.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4535424"/>
            <a:ext cx="8549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[10] X. Zhang et al., "Fabric defect detection with multi-scale features and attention," IEEE Trans. Ind. Informat., vol. 18, no. 9, pp. 6152–6160, 2021.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 (CONTD.)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67512"/>
            <a:ext cx="8549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[11] H. Schulz-Mirbach, "Ein Referenzdatensatz zur Evaluierung von Sichtprüfungsverfahren," Univ. of Hamburg, 1995. https://lmb.informatik.uni-freiburg.de/resources/datasets/tilda.en.html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20040" y="1042416"/>
            <a:ext cx="8549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[12] J. Hu, L. Shen, and G. Sun, "Squeeze-and-excitation networks," in Proc. IEEE CVPR, 2018, pp. 7132–7141.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8549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[13] Z. Ren et al., "Automated textile defect recognition using a deep CNN," Appl. Sci., vol. 12, no. 5, p. 2549, 2022.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1792224"/>
            <a:ext cx="8549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[14] S. Ren et al., "Faster R-CNN: Towards real-time object detection with region proposal networks," NeurIPS, 2015.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" y="2167128"/>
            <a:ext cx="8549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[15] F. Zhou et al., "Multi-class fabric defect detection using improved Faster R-CNN," Pattern Recognit. Image Anal., vol. 33, pp. 312–323, 2023.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2542032"/>
            <a:ext cx="8549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[16] W. Liu et al., "SSD: Single shot multibox detector," in Proc. ECCV, 2016, pp. 21–37.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0040" y="2916936"/>
            <a:ext cx="8549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[17] Y. Li et al., "Fabric defect detection based on improved YOLOv5," Text. Res. J., vol. 93, pp. 42–55, 2023.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0040" y="3291840"/>
            <a:ext cx="8549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[18] G. Jocher, A. Chaurasia, and J. Qiu, "Ultralytics YOLOv8," Ultralytics, 2023. https://github.com/ultralytics/ultralytics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0040" y="3666744"/>
            <a:ext cx="8549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[19] C.-Y. Wang et al., "YOLOv9: Learning via programmable gradient information," in Proc. ECCV, 2024.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0040" y="4041648"/>
            <a:ext cx="8549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[20] A. Wang et al., "YOLOv10: Real-time end-to-end object detection," arXiv:2405.14458, 2024.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0040" y="4416552"/>
            <a:ext cx="8549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[21] Y. Zhao et al., "DETRs beat YOLOs on real-time object detection," in Proc. IEEE CVPR, 2024.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0040" y="4791456"/>
            <a:ext cx="8549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[22] S. Chen et al., "Scale-adaptive transformer for woven fabric defect detection," IEEE Trans. Autom. Sci. Eng., vol. 21, pp. 1402–1415, 2024.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228600"/>
            <a:ext cx="36576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4630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2286000" y="2880360"/>
            <a:ext cx="4572000" cy="0"/>
          </a:xfrm>
          <a:prstGeom prst="line">
            <a:avLst/>
          </a:prstGeom>
          <a:noFill/>
          <a:ln w="19050">
            <a:solidFill>
              <a:srgbClr val="4F81B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9443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any queries, please contact: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3246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Udayagiri Hari Chandu  |  hchandu553@gmail.com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35478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guidance of Dr. Geetha S  |  geetha.s@vit.ac.in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3858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AI &amp; ML | Vellore Institute of Technology, Chennai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Fabric Defect Detection</dc:title>
  <dc:subject>PptxGenJS Presentation</dc:subject>
  <dc:creator>Udayagiri Hari Chandu</dc:creator>
  <cp:lastModifiedBy>Udayagiri Hari Chandu</cp:lastModifiedBy>
  <cp:revision>1</cp:revision>
  <dcterms:created xsi:type="dcterms:W3CDTF">2026-04-05T14:42:29Z</dcterms:created>
  <dcterms:modified xsi:type="dcterms:W3CDTF">2026-04-05T14:42:29Z</dcterms:modified>
</cp:coreProperties>
</file>