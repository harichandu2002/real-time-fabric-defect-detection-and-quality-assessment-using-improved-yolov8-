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324" r:id="rId3"/>
    <p:sldId id="259" r:id="rId4"/>
    <p:sldId id="260" r:id="rId5"/>
    <p:sldId id="325" r:id="rId6"/>
    <p:sldId id="264" r:id="rId7"/>
    <p:sldId id="323" r:id="rId8"/>
    <p:sldId id="333" r:id="rId9"/>
    <p:sldId id="334" r:id="rId10"/>
    <p:sldId id="265" r:id="rId11"/>
    <p:sldId id="266" r:id="rId12"/>
    <p:sldId id="267" r:id="rId13"/>
    <p:sldId id="268" r:id="rId14"/>
    <p:sldId id="269" r:id="rId15"/>
    <p:sldId id="270" r:id="rId16"/>
    <p:sldId id="327" r:id="rId17"/>
    <p:sldId id="272" r:id="rId18"/>
    <p:sldId id="273" r:id="rId19"/>
    <p:sldId id="321" r:id="rId20"/>
  </p:sldIdLst>
  <p:sldSz cx="12801600" cy="7315200"/>
  <p:notesSz cx="6858000" cy="9144000"/>
  <p:defaultTextStyle>
    <a:defPPr>
      <a:defRPr lang="en-US"/>
    </a:defPPr>
    <a:lvl1pPr marL="0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1F2"/>
    <a:srgbClr val="558ED5"/>
    <a:srgbClr val="C6D9F1"/>
    <a:srgbClr val="558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48" y="72"/>
      </p:cViewPr>
      <p:guideLst>
        <p:guide orient="horz" pos="230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D7A36-15CF-4B40-B7C9-B299C824610E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E4103-D868-498D-BB7B-ABDA25F9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272456"/>
            <a:ext cx="1088136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4145280"/>
            <a:ext cx="896112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4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9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3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48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23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97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E1E87-9C15-4984-91E0-215221CAF7F6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8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16BE9-D6CB-4D14-A12D-7F5512E1435B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6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4700695"/>
            <a:ext cx="10881360" cy="1452880"/>
          </a:xfrm>
        </p:spPr>
        <p:txBody>
          <a:bodyPr anchor="t"/>
          <a:lstStyle>
            <a:lvl1pPr algn="l">
              <a:defRPr sz="5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3100496"/>
            <a:ext cx="10881360" cy="1600199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472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4944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41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988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362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4834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230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97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9D04-24B9-408C-A000-3B78FDBD0AEB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2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91B48-F2B5-44C0-A324-732125246729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3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37454"/>
            <a:ext cx="5656263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319868"/>
            <a:ext cx="5656263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7" y="1637454"/>
            <a:ext cx="5658485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7" y="2319868"/>
            <a:ext cx="5658485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7E91-F602-4F18-92CA-FB1A231376B0}" type="datetime1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8EFE-411D-495F-AE32-482368671348}" type="datetime1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1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129DD-E279-4A67-BA32-75987FE76FB7}" type="datetime1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1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2" y="291252"/>
            <a:ext cx="4211638" cy="1239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291255"/>
            <a:ext cx="7156450" cy="6243321"/>
          </a:xfrm>
        </p:spPr>
        <p:txBody>
          <a:bodyPr/>
          <a:lstStyle>
            <a:lvl1pPr>
              <a:defRPr sz="39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2" y="1530775"/>
            <a:ext cx="4211638" cy="5003802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A02B-9B73-458F-B848-E99C8FA83242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4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5120640"/>
            <a:ext cx="7680960" cy="604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653626"/>
            <a:ext cx="7680960" cy="4389120"/>
          </a:xfrm>
        </p:spPr>
        <p:txBody>
          <a:bodyPr/>
          <a:lstStyle>
            <a:lvl1pPr marL="0" indent="0">
              <a:buNone/>
              <a:defRPr sz="3900"/>
            </a:lvl1pPr>
            <a:lvl2pPr marL="574724" indent="0">
              <a:buNone/>
              <a:defRPr sz="3500"/>
            </a:lvl2pPr>
            <a:lvl3pPr marL="1149448" indent="0">
              <a:buNone/>
              <a:defRPr sz="3000"/>
            </a:lvl3pPr>
            <a:lvl4pPr marL="1724172" indent="0">
              <a:buNone/>
              <a:defRPr sz="2500"/>
            </a:lvl4pPr>
            <a:lvl5pPr marL="2298895" indent="0">
              <a:buNone/>
              <a:defRPr sz="2500"/>
            </a:lvl5pPr>
            <a:lvl6pPr marL="2873621" indent="0">
              <a:buNone/>
              <a:defRPr sz="2500"/>
            </a:lvl6pPr>
            <a:lvl7pPr marL="3448344" indent="0">
              <a:buNone/>
              <a:defRPr sz="2500"/>
            </a:lvl7pPr>
            <a:lvl8pPr marL="4023069" indent="0">
              <a:buNone/>
              <a:defRPr sz="2500"/>
            </a:lvl8pPr>
            <a:lvl9pPr marL="4597793" indent="0">
              <a:buNone/>
              <a:defRPr sz="2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5725161"/>
            <a:ext cx="7680960" cy="858519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2997-1B9E-4EF2-B260-9EB38D81F553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0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70E5-7D69-44CE-AE73-71BFC3B68EE4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0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292948"/>
            <a:ext cx="2880360" cy="62416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92948"/>
            <a:ext cx="8427720" cy="6241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F8B80-F83C-48AA-AA3F-63D37C1606D6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35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062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92946"/>
            <a:ext cx="11521440" cy="1219200"/>
          </a:xfrm>
          <a:prstGeom prst="rect">
            <a:avLst/>
          </a:prstGeom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C8E2D-1657-4F9E-9BA7-8881C66FCBC2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780107"/>
            <a:ext cx="40538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3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1149448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044" indent="-431044" algn="l" defTabSz="1149448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33926" indent="-359202" algn="l" defTabSz="1149448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681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1534" indent="-287362" algn="l" defTabSz="1149448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86258" indent="-287362" algn="l" defTabSz="1149448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0983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35707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1043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85155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72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9448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4172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8895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621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834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3069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7793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801600" cy="1600199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sz="39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Fabric Defect Detection and Quality Assessment Using Improved YOLOv8 Classification Framework</a:t>
            </a:r>
            <a:endParaRPr lang="en-US" sz="39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6920" y="3088640"/>
            <a:ext cx="8961120" cy="3982720"/>
          </a:xfrm>
        </p:spPr>
        <p:txBody>
          <a:bodyPr>
            <a:normAutofit fontScale="47500" lnSpcReduction="20000"/>
          </a:bodyPr>
          <a:lstStyle/>
          <a:p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Project Work Final Review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Presented by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Udayagiri Hari Chandu (24MAI1005)</a:t>
            </a:r>
          </a:p>
          <a:p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Computer Science and Engineering (AI &amp; ML)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Under the Guidance of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Dr. Geetha S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Professor and Associate Dean (Research)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School of Computer Science and Engineering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Vellore Institute of Technology, Chennai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026" name="Picture 2" descr="VIT Logo">
            <a:extLst>
              <a:ext uri="{FF2B5EF4-FFF2-40B4-BE49-F238E27FC236}">
                <a16:creationId xmlns:a16="http://schemas.microsoft.com/office/drawing/2014/main" id="{3480622C-94EE-8879-D91B-FCEDA7BB9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2591" y="1831079"/>
            <a:ext cx="4716417" cy="1289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84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 fontScale="85000" lnSpcReduction="20000"/>
          </a:bodyPr>
          <a:lstStyle>
            <a:lvl1pPr marL="431044" indent="-431044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3926" indent="-35920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681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11534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86258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60983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35707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1043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85155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IDENTIFICATION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INTEGRATION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/ RESEARCH FRAMEWORK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/ GANTT CHART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49015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1.ABSTRACT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" y="1496906"/>
            <a:ext cx="11704320" cy="4827694"/>
          </a:xfrm>
        </p:spPr>
        <p:txBody>
          <a:bodyPr>
            <a:noAutofit/>
          </a:bodyPr>
          <a:lstStyle/>
          <a:p>
            <a:pPr marL="0" indent="0" algn="just">
              <a:spcAft>
                <a:spcPts val="8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Woven fabric inspection at industrial scale demands two capabilities that rarely appear together: a classifier fast enough to match live camera frame rates, and a decision engine that converts classification outputs into commercially actionable quality verdicts. This work presents a complete fabric inspection framework built around a modified YOLOv8 classification backbone trained on the TILDA Textile Texture Database (3,200 images, 8 textile types). After a systematic audit of its error classes, two calibration sequences (lamp-off and camera-distance variants) and one handling artifact (crease) were excluded, leaving four true defect categories: Holes, Stains, Broken Threads, and </a:t>
            </a:r>
            <a:r>
              <a:rPr lang="en-US" sz="2400" dirty="0" err="1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Misweaves</a:t>
            </a: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8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The monitoring application wraps the classifier in a three-panel GUI delivering live annotated camera feed, session controls with user-defined market rate input, and a structured quality report on session termination. Quality score (0-100) is derived from per-class severity weighting; a quadratic price penalty maps the score to a suggested selling price. The system sustains 24 FPS on a standard laptop CPU without a GPU - suitable for deployment alongside textile inspection frames in factory environments.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943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9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Fabric defect-driven write-offs account for 3-8% of total textile output value globally.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Manual inspection degrades after prolonged operation, missing 15-20% of defects under fatigue.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Modern looms exceed 200 m/</a:t>
            </a:r>
            <a:r>
              <a:rPr lang="en-US" sz="2400" dirty="0" err="1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hr</a:t>
            </a: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which is beyond human inspection throughput.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Three requirements define an industrial-grade system: </a:t>
            </a:r>
          </a:p>
          <a:p>
            <a:pPr marL="502882" lvl="1" indent="0">
              <a:spcAft>
                <a:spcPts val="500"/>
              </a:spcAft>
              <a:buSzPct val="100000"/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(1) ≥25 FPS real-time classification, </a:t>
            </a:r>
          </a:p>
          <a:p>
            <a:pPr marL="502882" lvl="1" indent="0">
              <a:spcAft>
                <a:spcPts val="500"/>
              </a:spcAft>
              <a:buSzPct val="100000"/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(2) CPU-only deployment without GPU hardware, and </a:t>
            </a:r>
          </a:p>
          <a:p>
            <a:pPr marL="502882" lvl="1" indent="0">
              <a:spcAft>
                <a:spcPts val="500"/>
              </a:spcAft>
              <a:buSzPct val="100000"/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(3) operator-interpretable quality output.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This work adapts YOLOv8-cls to the TILDA benchmark with CLAHE preprocessing, domain-specific augmentation, and a quality-and-price reporting engine.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97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3.LITERATURE SURVEY</a:t>
            </a: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0029541"/>
              </p:ext>
            </p:extLst>
          </p:nvPr>
        </p:nvGraphicFramePr>
        <p:xfrm>
          <a:off x="685799" y="1669892"/>
          <a:ext cx="11475720" cy="432247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Deep Learning (LeCun et al., 2015)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CNNs, backprop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CNNs learn discriminative features end-to-end; foundational for all visual inspection approaches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Requires large labelled datasets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Fabric defect detection using CNN vs SVM (Yang et al., 2020)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VGG-16 fine-tune, SVM-GLCM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 reduced per-class FP rate by 34% over SVM baseline on multi-class fabric data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bounding-box localisation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Multi-scale feature + attention (Zhang et al., 2021)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ResNet-50 + SE blocks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+2.1 pp accuracy over plain ResNet for textile classification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Tested under controlled illumination only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 on industrial camera (Ren et al., 2022)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Custom CNN, data aug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Validated under variable lighting and belt speed conditions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Single defect class; no quality scoring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 (CONTD..,)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072893"/>
              </p:ext>
            </p:extLst>
          </p:nvPr>
        </p:nvGraphicFramePr>
        <p:xfrm>
          <a:off x="685799" y="1669892"/>
          <a:ext cx="11475720" cy="432247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Faster R-CNN for fabric (Zhou et al., 2023)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2-stage detection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 per-class AP but &lt;18 FPS; incompatible with real-time line inspection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Latency too high for live deployment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YOLOv5 for fabric (Li et al., 2023)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YOLOv5 single-stage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mAP &gt;0.85 on in-house woven fabric dataset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Requires per-fabric anchor tuning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YOLOv8 (Jocher et al., 2023)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Anchor-free, C2f, decoupled head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SOTA on MS-COCO; anchor-free head avoids aspect-ratio tuning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validated on textile benchmark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8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YOLOv9 – PGI (Wang et al., 2024)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Programmable gradient information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+0.5 pp mAP@0.5:0.95 over YOLOv8 with 15% fewer parameters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Natural-image benchmark only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666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 (CONTD..,)</a:t>
            </a:r>
            <a:endParaRPr lang="en-GB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4747348"/>
              </p:ext>
            </p:extLst>
          </p:nvPr>
        </p:nvGraphicFramePr>
        <p:xfrm>
          <a:off x="685799" y="1669892"/>
          <a:ext cx="11475720" cy="2359564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9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RT-DETR (Zhao et al., 2024)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ResNet encoder + deformable attention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Matches YOLOv8 accuracy without NMS, lower end-to-end latency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tested on periodic-texture fabric data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10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Scale-adaptive transformer (Chen et al., 2024)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Swin transformer, multi-scale attention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Improved classification on woven fabric but stopped at classification step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quality assessment or price recommendation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243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BC-07D1-5582-ECAD-FB015F64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89C-2484-51E9-0A89-B138314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4. RESEARCH GAPS</a:t>
            </a:r>
            <a:endParaRPr lang="en-GB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1DF2F-2EFC-F28C-9A44-F9337C4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C7EF31-FD4D-A74F-4E18-7763DFF35B4A}"/>
              </a:ext>
            </a:extLst>
          </p:cNvPr>
          <p:cNvSpPr txBox="1"/>
          <p:nvPr/>
        </p:nvSpPr>
        <p:spPr>
          <a:xfrm>
            <a:off x="76200" y="1752600"/>
            <a:ext cx="12496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7624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TILDA provides one label per image with no bounding boxes. Detection methods applied to such data require synthetic patch-pasting, which corrupts training - converging to P = 0.25 (random guessing). No prior work explicitly documents this failure mode.</a:t>
            </a:r>
          </a:p>
          <a:p>
            <a:pPr marL="917624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of eight error classes (e6: lamp-off, e7: camera-distance) are imaging artifacts, not fabric defects. Inclusion corrupts classifier training. This finding is undocumented in prior TILDA-based publications.</a:t>
            </a:r>
          </a:p>
          <a:p>
            <a:pPr marL="917624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treat detection accuracy as the terminal output. The gap between raw defect counts and a commercially actionable selling-price recommendation has not been addressed in any published fabric inspection framework.</a:t>
            </a:r>
          </a:p>
          <a:p>
            <a:pPr marL="917624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published inspection systems require dedicated GPU hardware for real-time inference, precluding deployment at mid-scale mills without capital investment. CPU-deployable 24 FPS operation has not been demonstrated for multi-class fabric inspection.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540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266A5-DEC6-423E-4642-6DAA4690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9D02-AB68-99CB-182A-0A2671D6B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GB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5.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A4E0E-51B9-057E-EB16-03F09679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AD57D4-3FD2-69E2-7778-1CAE545BFBFA}"/>
              </a:ext>
            </a:extLst>
          </p:cNvPr>
          <p:cNvSpPr txBox="1"/>
          <p:nvPr/>
        </p:nvSpPr>
        <p:spPr>
          <a:xfrm>
            <a:off x="609600" y="1752600"/>
            <a:ext cx="11811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YOLOv8 classification pipeline specifically adapted for the TILDA textile benchmark, incorporating CLAHE contrast enhancement and a five-component augmentation strategy suited to the 8-bit greyscale acquisition conditions.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Discover, document, and exclude the two previously unreported calibration error classes (e6 lamp-off, e7camera-distance) that corrupt TILDA-based training when included.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novel quality scoring formula combining per-class severity weighting (Hole=10, Broken Thread=7,Misweave=5, Stain=3) with a quadratic price penalty function to produce commercially grounded selling-price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complete CPU-deployable real-time monitoring application with a three-panel graphical interface operable by non-specialist factory personnel at ≥24 FPS without a GPU.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per-class accuracy to identify the broken-thread resolution bottleneck and propose a mechanistic explanation and architectural fix path for future work.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986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6. MODULE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12146"/>
            <a:ext cx="12268200" cy="4827694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Capture Module:</a:t>
            </a:r>
          </a:p>
          <a:p>
            <a:pPr marL="502882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OpenCV-based frame acquisition from USB/laptop camera. Writes frames to shared buffer protected by threading. Lock at up to 200 FPS ceiling.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Logger:</a:t>
            </a:r>
          </a:p>
          <a:p>
            <a:pPr marL="502882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Records every defect event as (timestamp, class, confidence). In-memory during session; exports to structured CSV on demand.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Module:</a:t>
            </a:r>
          </a:p>
          <a:p>
            <a:pPr marL="502882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CLAHE contrast enhancement (clip=2.0, tile 8×8), greyscale → RGB conversion, letterbox-pad to 640×640,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centre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-crop to 224×224 for inference.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and Price Engine:</a:t>
            </a:r>
          </a:p>
          <a:p>
            <a:pPr marL="502882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Computes weighted defect rate, quality score Q∈[0,100], letter grade A–F, and suggested price Ps = Pmax × (Q/100)².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YOLOv8-cls Inference:</a:t>
            </a:r>
          </a:p>
          <a:p>
            <a:pPr marL="502882" lvl="1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YOLOv8m-cls backbone with dense C2f connectivity. Runs every 3rd frame for CPU efficiency. Returns class name + confidence per frame.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16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92024" y="57150"/>
            <a:ext cx="124175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161520" y="6899605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/>
            <a:r>
              <a:rPr lang="en-US" sz="154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540" dirty="0"/>
          </a:p>
        </p:txBody>
      </p:sp>
      <p:sp>
        <p:nvSpPr>
          <p:cNvPr id="5" name="Shape 3"/>
          <p:cNvSpPr/>
          <p:nvPr/>
        </p:nvSpPr>
        <p:spPr>
          <a:xfrm>
            <a:off x="256032" y="1145286"/>
            <a:ext cx="2176272" cy="1408176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56032" y="1145286"/>
            <a:ext cx="21762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Camera</a:t>
            </a:r>
            <a:endParaRPr lang="en-US" sz="1820" dirty="0"/>
          </a:p>
          <a:p>
            <a:pPr algn="ctr"/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(USB/Laptop)</a:t>
            </a:r>
            <a:endParaRPr lang="en-US" sz="1820" dirty="0"/>
          </a:p>
        </p:txBody>
      </p:sp>
      <p:sp>
        <p:nvSpPr>
          <p:cNvPr id="7" name="Shape 5"/>
          <p:cNvSpPr/>
          <p:nvPr/>
        </p:nvSpPr>
        <p:spPr>
          <a:xfrm>
            <a:off x="2432304" y="1849374"/>
            <a:ext cx="512064" cy="0"/>
          </a:xfrm>
          <a:prstGeom prst="line">
            <a:avLst/>
          </a:prstGeom>
          <a:noFill/>
          <a:ln w="254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90749" y="1695755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40" dirty="0">
                <a:solidFill>
                  <a:srgbClr val="1F497D"/>
                </a:solidFill>
              </a:rPr>
              <a:t>▶</a:t>
            </a:r>
            <a:endParaRPr lang="en-US" sz="1540" dirty="0"/>
          </a:p>
        </p:txBody>
      </p:sp>
      <p:sp>
        <p:nvSpPr>
          <p:cNvPr id="9" name="Shape 7"/>
          <p:cNvSpPr/>
          <p:nvPr/>
        </p:nvSpPr>
        <p:spPr>
          <a:xfrm>
            <a:off x="2688336" y="1145286"/>
            <a:ext cx="2176272" cy="1408176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688336" y="1145286"/>
            <a:ext cx="21762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CLAHE</a:t>
            </a:r>
            <a:endParaRPr lang="en-US" sz="1820" dirty="0"/>
          </a:p>
          <a:p>
            <a:pPr algn="ctr"/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</a:t>
            </a:r>
            <a:endParaRPr lang="en-US" sz="1820" dirty="0"/>
          </a:p>
        </p:txBody>
      </p:sp>
      <p:sp>
        <p:nvSpPr>
          <p:cNvPr id="11" name="Shape 9"/>
          <p:cNvSpPr/>
          <p:nvPr/>
        </p:nvSpPr>
        <p:spPr>
          <a:xfrm>
            <a:off x="4864608" y="1849374"/>
            <a:ext cx="512064" cy="0"/>
          </a:xfrm>
          <a:prstGeom prst="line">
            <a:avLst/>
          </a:prstGeom>
          <a:noFill/>
          <a:ln w="254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223053" y="1695755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40" dirty="0">
                <a:solidFill>
                  <a:srgbClr val="1F497D"/>
                </a:solidFill>
              </a:rPr>
              <a:t>▶</a:t>
            </a:r>
            <a:endParaRPr lang="en-US" sz="1540" dirty="0"/>
          </a:p>
        </p:txBody>
      </p:sp>
      <p:sp>
        <p:nvSpPr>
          <p:cNvPr id="13" name="Shape 11"/>
          <p:cNvSpPr/>
          <p:nvPr/>
        </p:nvSpPr>
        <p:spPr>
          <a:xfrm>
            <a:off x="5120640" y="1145286"/>
            <a:ext cx="2176272" cy="1408176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120640" y="1145286"/>
            <a:ext cx="21762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YOLOv8-cls</a:t>
            </a:r>
            <a:endParaRPr lang="en-US" sz="1820" dirty="0"/>
          </a:p>
          <a:p>
            <a:pPr algn="ctr"/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best.pt</a:t>
            </a:r>
            <a:endParaRPr lang="en-US" sz="1820" dirty="0"/>
          </a:p>
        </p:txBody>
      </p:sp>
      <p:sp>
        <p:nvSpPr>
          <p:cNvPr id="15" name="Shape 13"/>
          <p:cNvSpPr/>
          <p:nvPr/>
        </p:nvSpPr>
        <p:spPr>
          <a:xfrm>
            <a:off x="7296912" y="1849374"/>
            <a:ext cx="512064" cy="0"/>
          </a:xfrm>
          <a:prstGeom prst="line">
            <a:avLst/>
          </a:prstGeom>
          <a:noFill/>
          <a:ln w="254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655357" y="1695755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40" dirty="0">
                <a:solidFill>
                  <a:srgbClr val="1F497D"/>
                </a:solidFill>
              </a:rPr>
              <a:t>▶</a:t>
            </a:r>
            <a:endParaRPr lang="en-US" sz="1540" dirty="0"/>
          </a:p>
        </p:txBody>
      </p:sp>
      <p:sp>
        <p:nvSpPr>
          <p:cNvPr id="17" name="Shape 15"/>
          <p:cNvSpPr/>
          <p:nvPr/>
        </p:nvSpPr>
        <p:spPr>
          <a:xfrm>
            <a:off x="7552944" y="1145286"/>
            <a:ext cx="2176272" cy="1408176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552944" y="1145286"/>
            <a:ext cx="21762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</a:t>
            </a:r>
            <a:endParaRPr lang="en-US" sz="1820" dirty="0"/>
          </a:p>
          <a:p>
            <a:pPr algn="ctr"/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Logger</a:t>
            </a:r>
            <a:endParaRPr lang="en-US" sz="1820" dirty="0"/>
          </a:p>
        </p:txBody>
      </p:sp>
      <p:sp>
        <p:nvSpPr>
          <p:cNvPr id="19" name="Shape 17"/>
          <p:cNvSpPr/>
          <p:nvPr/>
        </p:nvSpPr>
        <p:spPr>
          <a:xfrm>
            <a:off x="9729216" y="1849374"/>
            <a:ext cx="512064" cy="0"/>
          </a:xfrm>
          <a:prstGeom prst="line">
            <a:avLst/>
          </a:prstGeom>
          <a:noFill/>
          <a:ln w="254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087661" y="1695755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40" dirty="0">
                <a:solidFill>
                  <a:srgbClr val="1F497D"/>
                </a:solidFill>
              </a:rPr>
              <a:t>▶</a:t>
            </a:r>
            <a:endParaRPr lang="en-US" sz="1540" dirty="0"/>
          </a:p>
        </p:txBody>
      </p:sp>
      <p:sp>
        <p:nvSpPr>
          <p:cNvPr id="21" name="Shape 19"/>
          <p:cNvSpPr/>
          <p:nvPr/>
        </p:nvSpPr>
        <p:spPr>
          <a:xfrm>
            <a:off x="9985248" y="1145286"/>
            <a:ext cx="2176272" cy="1408176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985248" y="1145286"/>
            <a:ext cx="21762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 &amp;</a:t>
            </a:r>
            <a:endParaRPr lang="en-US" sz="1820" dirty="0"/>
          </a:p>
          <a:p>
            <a:pPr algn="ctr"/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Price Engine</a:t>
            </a:r>
            <a:endParaRPr lang="en-US" sz="1820" dirty="0"/>
          </a:p>
        </p:txBody>
      </p:sp>
      <p:sp>
        <p:nvSpPr>
          <p:cNvPr id="23" name="Shape 21"/>
          <p:cNvSpPr/>
          <p:nvPr/>
        </p:nvSpPr>
        <p:spPr>
          <a:xfrm>
            <a:off x="256032" y="2809494"/>
            <a:ext cx="12289536" cy="1024128"/>
          </a:xfrm>
          <a:prstGeom prst="rect">
            <a:avLst/>
          </a:prstGeom>
          <a:solidFill>
            <a:srgbClr val="EEF4FB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48056" y="2873502"/>
            <a:ext cx="119054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2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Threading Model: Camera thread → shared Lock buffer → Main thread polls every 30 ms via after() scheduler → Canvas refresh without queue flooding</a:t>
            </a:r>
            <a:endParaRPr lang="en-US" sz="1820" dirty="0"/>
          </a:p>
        </p:txBody>
      </p:sp>
      <p:sp>
        <p:nvSpPr>
          <p:cNvPr id="25" name="Text 23"/>
          <p:cNvSpPr/>
          <p:nvPr/>
        </p:nvSpPr>
        <p:spPr>
          <a:xfrm>
            <a:off x="320040" y="4025646"/>
            <a:ext cx="12161520" cy="358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6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Tkinter GUI — 3 Panels:</a:t>
            </a:r>
            <a:endParaRPr lang="en-US" sz="1960" dirty="0"/>
          </a:p>
        </p:txBody>
      </p:sp>
      <p:sp>
        <p:nvSpPr>
          <p:cNvPr id="26" name="Shape 24"/>
          <p:cNvSpPr/>
          <p:nvPr/>
        </p:nvSpPr>
        <p:spPr>
          <a:xfrm>
            <a:off x="320040" y="4435297"/>
            <a:ext cx="3968496" cy="2470709"/>
          </a:xfrm>
          <a:prstGeom prst="rect">
            <a:avLst/>
          </a:prstGeom>
          <a:solidFill>
            <a:srgbClr val="FFFFFF"/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20040" y="4435297"/>
            <a:ext cx="3968496" cy="40965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84048" y="4435297"/>
            <a:ext cx="384048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Camera Panel</a:t>
            </a:r>
            <a:endParaRPr lang="en-US" sz="1680" dirty="0"/>
          </a:p>
        </p:txBody>
      </p:sp>
      <p:sp>
        <p:nvSpPr>
          <p:cNvPr id="29" name="Text 27"/>
          <p:cNvSpPr/>
          <p:nvPr/>
        </p:nvSpPr>
        <p:spPr>
          <a:xfrm>
            <a:off x="448056" y="4883353"/>
            <a:ext cx="3712464" cy="198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640×480 feed · Defect class banner · Confidence · FPS · Colour-coded border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480560" y="4435297"/>
            <a:ext cx="3968496" cy="2470709"/>
          </a:xfrm>
          <a:prstGeom prst="rect">
            <a:avLst/>
          </a:prstGeom>
          <a:solidFill>
            <a:srgbClr val="FFFFFF"/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480560" y="4435297"/>
            <a:ext cx="3968496" cy="40965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44568" y="4435297"/>
            <a:ext cx="384048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Controls Panel</a:t>
            </a:r>
            <a:endParaRPr lang="en-US" sz="1680" dirty="0"/>
          </a:p>
        </p:txBody>
      </p:sp>
      <p:sp>
        <p:nvSpPr>
          <p:cNvPr id="33" name="Text 31"/>
          <p:cNvSpPr/>
          <p:nvPr/>
        </p:nvSpPr>
        <p:spPr>
          <a:xfrm>
            <a:off x="4608576" y="4883353"/>
            <a:ext cx="3712464" cy="198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 rate entry · Confidence slider · Session timer · Start/Stop buttons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641080" y="4435297"/>
            <a:ext cx="3968496" cy="2470709"/>
          </a:xfrm>
          <a:prstGeom prst="rect">
            <a:avLst/>
          </a:prstGeom>
          <a:solidFill>
            <a:srgbClr val="FFFFFF"/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641080" y="4435297"/>
            <a:ext cx="3968496" cy="40965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705088" y="4435297"/>
            <a:ext cx="384048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Analysis Panel</a:t>
            </a:r>
            <a:endParaRPr lang="en-US" sz="1680" dirty="0"/>
          </a:p>
        </p:txBody>
      </p:sp>
      <p:sp>
        <p:nvSpPr>
          <p:cNvPr id="37" name="Text 35"/>
          <p:cNvSpPr/>
          <p:nvPr/>
        </p:nvSpPr>
        <p:spPr>
          <a:xfrm>
            <a:off x="8769096" y="4883353"/>
            <a:ext cx="3712464" cy="198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Defect breakdown · Quality score · Grade A–F · Suggested price · Export CSV</a:t>
            </a:r>
            <a:endParaRPr lang="en-US" sz="20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08D97214-A34B-6F6C-4FF8-848205F384E7}"/>
              </a:ext>
            </a:extLst>
          </p:cNvPr>
          <p:cNvSpPr txBox="1">
            <a:spLocks/>
          </p:cNvSpPr>
          <p:nvPr/>
        </p:nvSpPr>
        <p:spPr>
          <a:xfrm>
            <a:off x="0" y="-24432"/>
            <a:ext cx="12801600" cy="945690"/>
          </a:xfrm>
          <a:prstGeom prst="rect">
            <a:avLst/>
          </a:prstGeom>
          <a:solidFill>
            <a:srgbClr val="558ED5"/>
          </a:solidFill>
        </p:spPr>
        <p:txBody>
          <a:bodyPr/>
          <a:lstStyle>
            <a:lvl1pPr algn="ctr" defTabSz="1149448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7. SYSTEM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92024" y="57150"/>
            <a:ext cx="124175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DEVELOPMENT &amp; INTEGRATION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12161520" y="6899605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/>
            <a:r>
              <a:rPr lang="en-US" sz="154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540" dirty="0"/>
          </a:p>
        </p:txBody>
      </p:sp>
      <p:sp>
        <p:nvSpPr>
          <p:cNvPr id="5" name="Shape 3"/>
          <p:cNvSpPr/>
          <p:nvPr/>
        </p:nvSpPr>
        <p:spPr>
          <a:xfrm>
            <a:off x="256032" y="1055675"/>
            <a:ext cx="6016752" cy="38404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1055675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Pipeline (Google Colab – T4 GPU)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384048" y="1478128"/>
            <a:ext cx="576072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YOLOv8m-cls, ImageNet pretrained → TILDA fine-tune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CLAHE + letterbox preprocessing for all 2,008 images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70/15/15 stratified split | batch 32 | 50 epochs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AdamW + cosine annealing | FP16 AMP | patience 20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 rot="2700000">
            <a:off x="358445" y="1580541"/>
            <a:ext cx="89611" cy="8961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 rot="2700000">
            <a:off x="358445" y="2118208"/>
            <a:ext cx="89611" cy="8961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6032" y="4000043"/>
            <a:ext cx="6016752" cy="38404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" y="4000043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Audit (Critical Finding)</a:t>
            </a:r>
            <a:endParaRPr lang="en-US" sz="1680" dirty="0"/>
          </a:p>
        </p:txBody>
      </p:sp>
      <p:sp>
        <p:nvSpPr>
          <p:cNvPr id="14" name="Text 12"/>
          <p:cNvSpPr/>
          <p:nvPr/>
        </p:nvSpPr>
        <p:spPr>
          <a:xfrm>
            <a:off x="384048" y="4422496"/>
            <a:ext cx="576072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Systematically read all description .txt files per e-folder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e6 = lamp-off images → excluded (imaging artifact)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e7 = camera-distance calibration → excluded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4 true defect classes retained: Hole, Stain, Broken Thread, Misweave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 rot="2700000">
            <a:off x="358445" y="4524909"/>
            <a:ext cx="89611" cy="8961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 rot="2700000">
            <a:off x="358445" y="5062576"/>
            <a:ext cx="89611" cy="8961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 rot="2700000">
            <a:off x="358445" y="5600243"/>
            <a:ext cx="89611" cy="8961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528816" y="1055675"/>
            <a:ext cx="6016752" cy="38404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656832" y="1055675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Development (VS Code + Python)</a:t>
            </a:r>
            <a:endParaRPr lang="en-US" sz="1680" dirty="0"/>
          </a:p>
        </p:txBody>
      </p:sp>
      <p:sp>
        <p:nvSpPr>
          <p:cNvPr id="21" name="Text 19"/>
          <p:cNvSpPr/>
          <p:nvPr/>
        </p:nvSpPr>
        <p:spPr>
          <a:xfrm>
            <a:off x="6656832" y="1478128"/>
            <a:ext cx="576072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OpenCV camera loop in background thread with Lock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Tkinter main thread polls buffer every 30 ms via after()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Inference every 3rd frame for CPU headroom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Session event log + CSV export with timestamped events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 rot="2700000">
            <a:off x="6631229" y="1580541"/>
            <a:ext cx="89611" cy="8961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 rot="2700000">
            <a:off x="6631229" y="2118208"/>
            <a:ext cx="89611" cy="8961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528816" y="4000043"/>
            <a:ext cx="6016752" cy="38404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656832" y="4000043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Challenge &amp; Solution</a:t>
            </a:r>
            <a:endParaRPr lang="en-US" sz="1680" dirty="0"/>
          </a:p>
        </p:txBody>
      </p:sp>
      <p:sp>
        <p:nvSpPr>
          <p:cNvPr id="28" name="Text 26"/>
          <p:cNvSpPr/>
          <p:nvPr/>
        </p:nvSpPr>
        <p:spPr>
          <a:xfrm>
            <a:off x="6656832" y="4422496"/>
            <a:ext cx="576072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Challenge: Tkinter freezes when camera thread calls GUI methods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Solution: Strict thread isolation — camera never calls Tkinter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Result: Stable 24 FPS display on Intel i5 + Iris Xe, no GPU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Confidence threshold adjustable mid-session via slider</a:t>
            </a:r>
            <a:endParaRPr lang="en-US" sz="19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 rot="2700000">
            <a:off x="6631229" y="4524909"/>
            <a:ext cx="89611" cy="8961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 rot="2700000">
            <a:off x="6631229" y="5062576"/>
            <a:ext cx="89611" cy="8961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 rot="2700000">
            <a:off x="6631229" y="5600243"/>
            <a:ext cx="89611" cy="8961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3CD90F-0C84-615B-C2FB-A0DBD6C09D2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801600" cy="933417"/>
          </a:xfrm>
          <a:prstGeom prst="rect">
            <a:avLst/>
          </a:prstGeom>
          <a:solidFill>
            <a:srgbClr val="558ED5"/>
          </a:solidFill>
        </p:spPr>
        <p:txBody>
          <a:bodyPr/>
          <a:lstStyle>
            <a:lvl1pPr algn="ctr" defTabSz="1149448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8. DEVELOPMENT &amp; INTEGRATION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4290"/>
            <a:ext cx="12801600" cy="923544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92024" y="57150"/>
            <a:ext cx="124175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PROTOTYPE / RESEARCH FRAMEWORK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12161520" y="6899605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/>
            <a:r>
              <a:rPr lang="en-US" sz="154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540" dirty="0"/>
          </a:p>
        </p:txBody>
      </p:sp>
      <p:sp>
        <p:nvSpPr>
          <p:cNvPr id="5" name="Shape 3"/>
          <p:cNvSpPr/>
          <p:nvPr/>
        </p:nvSpPr>
        <p:spPr>
          <a:xfrm>
            <a:off x="256032" y="978865"/>
            <a:ext cx="5952744" cy="409651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978865"/>
            <a:ext cx="576072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Prototype Description</a:t>
            </a:r>
            <a:endParaRPr lang="en-US" sz="1820" dirty="0"/>
          </a:p>
        </p:txBody>
      </p:sp>
      <p:sp>
        <p:nvSpPr>
          <p:cNvPr id="17" name="Shape 15"/>
          <p:cNvSpPr/>
          <p:nvPr/>
        </p:nvSpPr>
        <p:spPr>
          <a:xfrm>
            <a:off x="6592824" y="978865"/>
            <a:ext cx="5952744" cy="409651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20840" y="978865"/>
            <a:ext cx="576072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Framework Setup</a:t>
            </a:r>
            <a:endParaRPr lang="en-US" sz="182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71F235-67C8-832D-1EB6-5507941371D1}"/>
              </a:ext>
            </a:extLst>
          </p:cNvPr>
          <p:cNvSpPr txBox="1"/>
          <p:nvPr/>
        </p:nvSpPr>
        <p:spPr>
          <a:xfrm>
            <a:off x="256032" y="1600200"/>
            <a:ext cx="5952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EA5026E6-B07C-1569-7B1B-27F8ACAEA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0820" y="1388516"/>
            <a:ext cx="595274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Trained on 2,008 audited images from the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TILDA Textile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Optimized Preprocessing: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CLAHE enhancement and standardized cropping for maximum feature clarity.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Robust Training: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Fine-tuned with heavy data augmentation (rotation, jitter, erasing) to ensure real-world reliability.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Rigorously tested using Top-1 accuracy, F1-score metrics, and a dedicated 300-image test set.</a:t>
            </a:r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FB529422-6CF4-0F19-91DB-3D524D7F6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63" y="1372993"/>
            <a:ext cx="6016752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Classification: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fabric defect detection using a custom YOLOv8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 Optimized: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High-speed inference (24 FPS) on standard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 i5 CPUs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Interface: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feed with color-coded overlays for holes, stains, broken threads,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misweaves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Valuation: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instant quality scores and suggested pricing based on defect density.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Tuning: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On-the-fly sensitivity adjustment via a real-time confidence threshold slider.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51054"/>
            <a:ext cx="12801600" cy="889254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92024" y="57150"/>
            <a:ext cx="124175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OUTCOME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12161520" y="6899605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/>
            <a:r>
              <a:rPr lang="en-US" sz="154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256032" y="978865"/>
            <a:ext cx="7424928" cy="358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2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Model Screenshot — Live Inspection Session</a:t>
            </a:r>
            <a:endParaRPr lang="en-US" sz="1820" dirty="0"/>
          </a:p>
        </p:txBody>
      </p:sp>
      <p:sp>
        <p:nvSpPr>
          <p:cNvPr id="7" name="Text 4"/>
          <p:cNvSpPr/>
          <p:nvPr/>
        </p:nvSpPr>
        <p:spPr>
          <a:xfrm>
            <a:off x="256032" y="4658792"/>
            <a:ext cx="742492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Three-panel Tkinter GUI: (L) Live 640×480 annotated feed with Stain detected at conf 0.87  (C) Session controls with market rate, confidence slider, Start/Stop  (R) Full inspection report with quality grade A and suggested price ₹842.88</a:t>
            </a:r>
            <a:endParaRPr lang="en-US" sz="1330" dirty="0"/>
          </a:p>
        </p:txBody>
      </p:sp>
      <p:sp>
        <p:nvSpPr>
          <p:cNvPr id="8" name="Text 5"/>
          <p:cNvSpPr/>
          <p:nvPr/>
        </p:nvSpPr>
        <p:spPr>
          <a:xfrm>
            <a:off x="7936992" y="978865"/>
            <a:ext cx="4608576" cy="358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2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Insights &amp; Findings</a:t>
            </a:r>
            <a:endParaRPr lang="en-US" sz="1820" dirty="0"/>
          </a:p>
        </p:txBody>
      </p:sp>
      <p:sp>
        <p:nvSpPr>
          <p:cNvPr id="9" name="Shape 6"/>
          <p:cNvSpPr/>
          <p:nvPr/>
        </p:nvSpPr>
        <p:spPr>
          <a:xfrm>
            <a:off x="7936992" y="1388516"/>
            <a:ext cx="4608576" cy="12801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936992" y="1388516"/>
            <a:ext cx="4608576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0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88.5%</a:t>
            </a:r>
            <a:endParaRPr lang="en-US" sz="3080" dirty="0"/>
          </a:p>
        </p:txBody>
      </p:sp>
      <p:sp>
        <p:nvSpPr>
          <p:cNvPr id="11" name="Text 8"/>
          <p:cNvSpPr/>
          <p:nvPr/>
        </p:nvSpPr>
        <p:spPr>
          <a:xfrm>
            <a:off x="7936992" y="2041398"/>
            <a:ext cx="4608576" cy="58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7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Overall Top-1 Accuracy</a:t>
            </a:r>
            <a:endParaRPr lang="en-US" sz="1470" dirty="0"/>
          </a:p>
        </p:txBody>
      </p:sp>
      <p:sp>
        <p:nvSpPr>
          <p:cNvPr id="12" name="Shape 9"/>
          <p:cNvSpPr/>
          <p:nvPr/>
        </p:nvSpPr>
        <p:spPr>
          <a:xfrm>
            <a:off x="7936992" y="2822296"/>
            <a:ext cx="4608576" cy="12801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936992" y="2822296"/>
            <a:ext cx="4608576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0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 FPS</a:t>
            </a:r>
            <a:endParaRPr lang="en-US" sz="3080" dirty="0"/>
          </a:p>
        </p:txBody>
      </p:sp>
      <p:sp>
        <p:nvSpPr>
          <p:cNvPr id="14" name="Text 11"/>
          <p:cNvSpPr/>
          <p:nvPr/>
        </p:nvSpPr>
        <p:spPr>
          <a:xfrm>
            <a:off x="7936992" y="3475177"/>
            <a:ext cx="4608576" cy="58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7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CPU-Only, No GPU</a:t>
            </a:r>
            <a:endParaRPr lang="en-US" sz="1470" dirty="0"/>
          </a:p>
        </p:txBody>
      </p:sp>
      <p:sp>
        <p:nvSpPr>
          <p:cNvPr id="15" name="Shape 12"/>
          <p:cNvSpPr/>
          <p:nvPr/>
        </p:nvSpPr>
        <p:spPr>
          <a:xfrm>
            <a:off x="7936992" y="4256075"/>
            <a:ext cx="4608576" cy="12801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7936992" y="4256075"/>
            <a:ext cx="4608576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0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Classes</a:t>
            </a:r>
            <a:endParaRPr lang="en-US" sz="3080" dirty="0"/>
          </a:p>
        </p:txBody>
      </p:sp>
      <p:sp>
        <p:nvSpPr>
          <p:cNvPr id="17" name="Text 14"/>
          <p:cNvSpPr/>
          <p:nvPr/>
        </p:nvSpPr>
        <p:spPr>
          <a:xfrm>
            <a:off x="7936992" y="4908956"/>
            <a:ext cx="4608576" cy="58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7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Hole · Stain · Thread · Misweave</a:t>
            </a:r>
            <a:endParaRPr lang="en-US" sz="1470" dirty="0"/>
          </a:p>
        </p:txBody>
      </p:sp>
      <p:sp>
        <p:nvSpPr>
          <p:cNvPr id="19" name="Text 16"/>
          <p:cNvSpPr/>
          <p:nvPr/>
        </p:nvSpPr>
        <p:spPr>
          <a:xfrm>
            <a:off x="7936992" y="5689854"/>
            <a:ext cx="4608576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308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e6 &amp; e7</a:t>
            </a:r>
            <a:endParaRPr lang="en-US" sz="3080" dirty="0"/>
          </a:p>
        </p:txBody>
      </p:sp>
      <p:sp>
        <p:nvSpPr>
          <p:cNvPr id="20" name="Text 17"/>
          <p:cNvSpPr/>
          <p:nvPr/>
        </p:nvSpPr>
        <p:spPr>
          <a:xfrm>
            <a:off x="7936992" y="6342735"/>
            <a:ext cx="4608576" cy="58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7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Calibration classes excluded</a:t>
            </a:r>
            <a:endParaRPr lang="en-US" sz="1470" dirty="0"/>
          </a:p>
          <a:p>
            <a:pPr algn="ctr"/>
            <a:r>
              <a:rPr lang="en-US" sz="147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(first documented finding)</a:t>
            </a:r>
            <a:endParaRPr lang="en-US" sz="1470" dirty="0"/>
          </a:p>
        </p:txBody>
      </p:sp>
      <p:sp>
        <p:nvSpPr>
          <p:cNvPr id="21" name="Shape 18"/>
          <p:cNvSpPr/>
          <p:nvPr/>
        </p:nvSpPr>
        <p:spPr>
          <a:xfrm>
            <a:off x="256032" y="5606643"/>
            <a:ext cx="12289536" cy="1337768"/>
          </a:xfrm>
          <a:prstGeom prst="rect">
            <a:avLst/>
          </a:prstGeom>
          <a:solidFill>
            <a:srgbClr val="EEF4FB"/>
          </a:solidFill>
          <a:ln w="1016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Text 19"/>
          <p:cNvSpPr/>
          <p:nvPr/>
        </p:nvSpPr>
        <p:spPr>
          <a:xfrm>
            <a:off x="448056" y="5561838"/>
            <a:ext cx="3514344" cy="358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Classification Summary: </a:t>
            </a:r>
            <a:endParaRPr lang="en-US" sz="1680" dirty="0"/>
          </a:p>
        </p:txBody>
      </p:sp>
      <p:sp>
        <p:nvSpPr>
          <p:cNvPr id="23" name="Shape 20"/>
          <p:cNvSpPr/>
          <p:nvPr/>
        </p:nvSpPr>
        <p:spPr>
          <a:xfrm>
            <a:off x="256032" y="5945886"/>
            <a:ext cx="2304288" cy="89611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256032" y="5971489"/>
            <a:ext cx="230428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5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2,008</a:t>
            </a:r>
            <a:endParaRPr lang="en-US" sz="2520" dirty="0"/>
          </a:p>
        </p:txBody>
      </p:sp>
      <p:sp>
        <p:nvSpPr>
          <p:cNvPr id="25" name="Text 22"/>
          <p:cNvSpPr/>
          <p:nvPr/>
        </p:nvSpPr>
        <p:spPr>
          <a:xfrm>
            <a:off x="256032" y="6393942"/>
            <a:ext cx="230428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images used</a:t>
            </a:r>
            <a:endParaRPr lang="en-US" sz="1330" dirty="0"/>
          </a:p>
        </p:txBody>
      </p:sp>
      <p:sp>
        <p:nvSpPr>
          <p:cNvPr id="26" name="Shape 23"/>
          <p:cNvSpPr/>
          <p:nvPr/>
        </p:nvSpPr>
        <p:spPr>
          <a:xfrm>
            <a:off x="2726741" y="5945886"/>
            <a:ext cx="2304288" cy="896112"/>
          </a:xfrm>
          <a:prstGeom prst="rect">
            <a:avLst/>
          </a:prstGeom>
          <a:solidFill>
            <a:srgbClr val="4F81B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2726741" y="5971489"/>
            <a:ext cx="230428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5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1,408</a:t>
            </a:r>
            <a:endParaRPr lang="en-US" sz="2520" dirty="0"/>
          </a:p>
        </p:txBody>
      </p:sp>
      <p:sp>
        <p:nvSpPr>
          <p:cNvPr id="28" name="Text 25"/>
          <p:cNvSpPr/>
          <p:nvPr/>
        </p:nvSpPr>
        <p:spPr>
          <a:xfrm>
            <a:off x="2726741" y="6393942"/>
            <a:ext cx="230428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set (70%)</a:t>
            </a:r>
            <a:endParaRPr lang="en-US" sz="1330" dirty="0"/>
          </a:p>
        </p:txBody>
      </p:sp>
      <p:sp>
        <p:nvSpPr>
          <p:cNvPr id="29" name="Shape 26"/>
          <p:cNvSpPr/>
          <p:nvPr/>
        </p:nvSpPr>
        <p:spPr>
          <a:xfrm>
            <a:off x="5197450" y="5945886"/>
            <a:ext cx="2304288" cy="896112"/>
          </a:xfrm>
          <a:prstGeom prst="rect">
            <a:avLst/>
          </a:prstGeom>
          <a:solidFill>
            <a:srgbClr val="4F81B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5197450" y="5971489"/>
            <a:ext cx="230428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5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300</a:t>
            </a:r>
            <a:endParaRPr lang="en-US" sz="2520" dirty="0"/>
          </a:p>
        </p:txBody>
      </p:sp>
      <p:sp>
        <p:nvSpPr>
          <p:cNvPr id="31" name="Text 28"/>
          <p:cNvSpPr/>
          <p:nvPr/>
        </p:nvSpPr>
        <p:spPr>
          <a:xfrm>
            <a:off x="5197450" y="6393942"/>
            <a:ext cx="230428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(15%)</a:t>
            </a:r>
            <a:endParaRPr lang="en-US" sz="1330" dirty="0"/>
          </a:p>
        </p:txBody>
      </p:sp>
      <p:sp>
        <p:nvSpPr>
          <p:cNvPr id="32" name="Shape 29"/>
          <p:cNvSpPr/>
          <p:nvPr/>
        </p:nvSpPr>
        <p:spPr>
          <a:xfrm>
            <a:off x="7668158" y="5945886"/>
            <a:ext cx="2304288" cy="896112"/>
          </a:xfrm>
          <a:prstGeom prst="rect">
            <a:avLst/>
          </a:prstGeom>
          <a:solidFill>
            <a:srgbClr val="4F81B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7668158" y="5971489"/>
            <a:ext cx="230428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5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300</a:t>
            </a:r>
            <a:endParaRPr lang="en-US" sz="2520" dirty="0"/>
          </a:p>
        </p:txBody>
      </p:sp>
      <p:sp>
        <p:nvSpPr>
          <p:cNvPr id="34" name="Text 31"/>
          <p:cNvSpPr/>
          <p:nvPr/>
        </p:nvSpPr>
        <p:spPr>
          <a:xfrm>
            <a:off x="7668158" y="6393942"/>
            <a:ext cx="230428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set (15%)</a:t>
            </a:r>
            <a:endParaRPr lang="en-US" sz="1330" dirty="0"/>
          </a:p>
        </p:txBody>
      </p:sp>
      <p:sp>
        <p:nvSpPr>
          <p:cNvPr id="35" name="Shape 32"/>
          <p:cNvSpPr/>
          <p:nvPr/>
        </p:nvSpPr>
        <p:spPr>
          <a:xfrm>
            <a:off x="10138867" y="5945886"/>
            <a:ext cx="2304288" cy="896112"/>
          </a:xfrm>
          <a:prstGeom prst="rect">
            <a:avLst/>
          </a:prstGeom>
          <a:solidFill>
            <a:srgbClr val="4F81B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10138867" y="5971489"/>
            <a:ext cx="230428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52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502</a:t>
            </a:r>
            <a:endParaRPr lang="en-US" sz="2520" dirty="0"/>
          </a:p>
        </p:txBody>
      </p:sp>
      <p:sp>
        <p:nvSpPr>
          <p:cNvPr id="37" name="Text 34"/>
          <p:cNvSpPr/>
          <p:nvPr/>
        </p:nvSpPr>
        <p:spPr>
          <a:xfrm>
            <a:off x="10138867" y="6393942"/>
            <a:ext cx="230428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3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Images per class</a:t>
            </a:r>
            <a:endParaRPr lang="en-US" sz="133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10DBF41-C962-A52D-A4A4-6E8EA5C9D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1379372"/>
            <a:ext cx="7306447" cy="31926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00" cy="889254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92024" y="57150"/>
            <a:ext cx="124175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RESULTS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12161520" y="6899605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/>
            <a:r>
              <a:rPr lang="en-US" sz="154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320040" y="978865"/>
            <a:ext cx="12161520" cy="358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Classification Performance — TILDA Test Partition (300 images)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320040" y="1401318"/>
          <a:ext cx="12161520" cy="2596896"/>
        </p:xfrm>
        <a:graphic>
          <a:graphicData uri="http://schemas.openxmlformats.org/drawingml/2006/table">
            <a:tbl>
              <a:tblPr/>
              <a:tblGrid>
                <a:gridCol w="3072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F1-Score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Top-1 Acc.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Hole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92.0%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Stain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0.895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88.0%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Broken Thread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0.845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83.0%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Misweave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91.0%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Mean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0.885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0.898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88.5%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406036"/>
            <a:ext cx="12161520" cy="358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 Speed — Intel Core i5 Laptop, CPU Only (Batch = 1)</a:t>
            </a:r>
            <a:endParaRPr lang="en-US" sz="24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124876"/>
              </p:ext>
            </p:extLst>
          </p:nvPr>
        </p:nvGraphicFramePr>
        <p:xfrm>
          <a:off x="320040" y="4876800"/>
          <a:ext cx="12161520" cy="1731264"/>
        </p:xfrm>
        <a:graphic>
          <a:graphicData uri="http://schemas.openxmlformats.org/drawingml/2006/table">
            <a:tbl>
              <a:tblPr/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FPS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Latency (ms)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YOLOv8s-cls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32.3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YOLOv8m-cls (Proposed)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41.7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YOLOv8l-cls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62.5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8016" marR="128016" marT="64008" marB="64008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914400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12. TIMELINE / 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B56AA9-BCFF-D7AE-CDF3-850FF6613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3483"/>
            <a:ext cx="11521440" cy="504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00" cy="889254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92024" y="57150"/>
            <a:ext cx="124175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REFERENCES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12161520" y="6899605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/>
            <a:r>
              <a:rPr lang="en-US" sz="154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448056" y="991667"/>
            <a:ext cx="11969496" cy="550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H. Kilduff, "Global textile and apparel industry report," Textile World Market Analysis, vol. 14, no. 2, pp. 1–18, 2022.</a:t>
            </a:r>
            <a:endParaRPr lang="en-US" sz="1680" dirty="0"/>
          </a:p>
        </p:txBody>
      </p:sp>
      <p:sp>
        <p:nvSpPr>
          <p:cNvPr id="6" name="Text 4"/>
          <p:cNvSpPr/>
          <p:nvPr/>
        </p:nvSpPr>
        <p:spPr>
          <a:xfrm>
            <a:off x="448056" y="1593342"/>
            <a:ext cx="11969496" cy="550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A. Kumar, "Computer-vision-based fabric defect detection: A survey," IEEE Trans. Ind. Electron., vol. 55, no. 1, pp. 348–363, 2008.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448056" y="2195017"/>
            <a:ext cx="11969496" cy="550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J. Yang et al., "Fabric defect detection using a CNN compared with a SVM," J. Text. Inst., vol. 111, no. 12, pp. 1834–1843, 2020.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448056" y="2796692"/>
            <a:ext cx="11969496" cy="550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Y. LeCun, Y. Bengio, and G. Hinton, "Deep learning," Nature, vol. 521, pp. 436–444, 2015.</a:t>
            </a:r>
            <a:endParaRPr lang="en-US" sz="1680" dirty="0"/>
          </a:p>
        </p:txBody>
      </p:sp>
      <p:sp>
        <p:nvSpPr>
          <p:cNvPr id="9" name="Text 7"/>
          <p:cNvSpPr/>
          <p:nvPr/>
        </p:nvSpPr>
        <p:spPr>
          <a:xfrm>
            <a:off x="448056" y="3398368"/>
            <a:ext cx="11969496" cy="550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J. Redmon et al., "You only look once: Unified, real-time object detection," in Proc. IEEE CVPR, 2016, pp. 779–788.</a:t>
            </a:r>
            <a:endParaRPr lang="en-US" sz="1680" dirty="0"/>
          </a:p>
        </p:txBody>
      </p:sp>
      <p:sp>
        <p:nvSpPr>
          <p:cNvPr id="10" name="Text 8"/>
          <p:cNvSpPr/>
          <p:nvPr/>
        </p:nvSpPr>
        <p:spPr>
          <a:xfrm>
            <a:off x="448056" y="4000043"/>
            <a:ext cx="11969496" cy="550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H. Y. T. Ngan et al., "Automated fabric defect detection — a review," Image Vis. Comput., vol. 29, no. 7, pp. 442–458, 2011.</a:t>
            </a:r>
            <a:endParaRPr lang="en-US" sz="1680" dirty="0"/>
          </a:p>
        </p:txBody>
      </p:sp>
      <p:sp>
        <p:nvSpPr>
          <p:cNvPr id="11" name="Text 9"/>
          <p:cNvSpPr/>
          <p:nvPr/>
        </p:nvSpPr>
        <p:spPr>
          <a:xfrm>
            <a:off x="448056" y="4601718"/>
            <a:ext cx="11969496" cy="550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R. M. Haralick et al., "Textural features for image classification," IEEE Trans. Syst., Man, Cybern., vol. SMC-3, pp. 610–621, 1973.</a:t>
            </a:r>
            <a:endParaRPr lang="en-US" sz="1680" dirty="0"/>
          </a:p>
        </p:txBody>
      </p:sp>
      <p:sp>
        <p:nvSpPr>
          <p:cNvPr id="12" name="Text 10"/>
          <p:cNvSpPr/>
          <p:nvPr/>
        </p:nvSpPr>
        <p:spPr>
          <a:xfrm>
            <a:off x="448056" y="5203393"/>
            <a:ext cx="11969496" cy="550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[8] S. Mallat, "A theory for multiresolution signal decomposition," IEEE Trans. PAMI, vol. 11, pp. 674–693, 1989.</a:t>
            </a:r>
            <a:endParaRPr lang="en-US" sz="1680" dirty="0"/>
          </a:p>
        </p:txBody>
      </p:sp>
      <p:sp>
        <p:nvSpPr>
          <p:cNvPr id="13" name="Text 11"/>
          <p:cNvSpPr/>
          <p:nvPr/>
        </p:nvSpPr>
        <p:spPr>
          <a:xfrm>
            <a:off x="448056" y="5805068"/>
            <a:ext cx="11969496" cy="550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[9] K. He et al., "Deep residual learning for image recognition," in Proc. IEEE CVPR, 2016, pp. 770–778.</a:t>
            </a:r>
            <a:endParaRPr lang="en-US" sz="1680" dirty="0"/>
          </a:p>
        </p:txBody>
      </p:sp>
      <p:sp>
        <p:nvSpPr>
          <p:cNvPr id="14" name="Text 12"/>
          <p:cNvSpPr/>
          <p:nvPr/>
        </p:nvSpPr>
        <p:spPr>
          <a:xfrm>
            <a:off x="448056" y="6406744"/>
            <a:ext cx="11969496" cy="550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[10] X. Zhang et al., "Fabric defect detection with multi-scale features and attention," IEEE Trans. Ind. Informat., vol. 18, no. 9, pp. 6152–6160, 2021.</a:t>
            </a:r>
            <a:endParaRPr lang="en-US" sz="16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00" cy="889254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92024" y="57150"/>
            <a:ext cx="124175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 (CONTD.)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12161520" y="6899605"/>
            <a:ext cx="51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/>
            <a:r>
              <a:rPr lang="en-US" sz="154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448056" y="991667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[11] H. Schulz-Mirbach, "Ein Referenzdatensatz zur Evaluierung von Sichtprüfungsverfahren," Univ. of Hamburg, 1995. https://lmb.informatik.uni-freiburg.de/resources/datasets/tilda.en.html</a:t>
            </a:r>
            <a:endParaRPr lang="en-US" sz="1610" dirty="0"/>
          </a:p>
        </p:txBody>
      </p:sp>
      <p:sp>
        <p:nvSpPr>
          <p:cNvPr id="6" name="Text 4"/>
          <p:cNvSpPr/>
          <p:nvPr/>
        </p:nvSpPr>
        <p:spPr>
          <a:xfrm>
            <a:off x="448056" y="1516532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[12] J. Hu, L. Shen, and G. Sun, "Squeeze-and-excitation networks," in Proc. IEEE CVPR, 2018, pp. 7132–7141.</a:t>
            </a:r>
            <a:endParaRPr lang="en-US" sz="1610" dirty="0"/>
          </a:p>
        </p:txBody>
      </p:sp>
      <p:sp>
        <p:nvSpPr>
          <p:cNvPr id="7" name="Text 5"/>
          <p:cNvSpPr/>
          <p:nvPr/>
        </p:nvSpPr>
        <p:spPr>
          <a:xfrm>
            <a:off x="448056" y="2041398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[13] Z. Ren et al., "Automated textile defect recognition using a deep CNN," Appl. Sci., vol. 12, no. 5, p. 2549, 2022.</a:t>
            </a:r>
            <a:endParaRPr lang="en-US" sz="1610" dirty="0"/>
          </a:p>
        </p:txBody>
      </p:sp>
      <p:sp>
        <p:nvSpPr>
          <p:cNvPr id="8" name="Text 6"/>
          <p:cNvSpPr/>
          <p:nvPr/>
        </p:nvSpPr>
        <p:spPr>
          <a:xfrm>
            <a:off x="448056" y="2566264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[14] S. Ren et al., "Faster R-CNN: Towards real-time object detection with region proposal networks," NeurIPS, 2015.</a:t>
            </a:r>
            <a:endParaRPr lang="en-US" sz="1610" dirty="0"/>
          </a:p>
        </p:txBody>
      </p:sp>
      <p:sp>
        <p:nvSpPr>
          <p:cNvPr id="9" name="Text 7"/>
          <p:cNvSpPr/>
          <p:nvPr/>
        </p:nvSpPr>
        <p:spPr>
          <a:xfrm>
            <a:off x="448056" y="3091129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[15] F. Zhou et al., "Multi-class fabric defect detection using improved Faster R-CNN," Pattern Recognit. Image Anal., vol. 33, pp. 312–323, 2023.</a:t>
            </a:r>
            <a:endParaRPr lang="en-US" sz="1610" dirty="0"/>
          </a:p>
        </p:txBody>
      </p:sp>
      <p:sp>
        <p:nvSpPr>
          <p:cNvPr id="10" name="Text 8"/>
          <p:cNvSpPr/>
          <p:nvPr/>
        </p:nvSpPr>
        <p:spPr>
          <a:xfrm>
            <a:off x="448056" y="3615995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[16] W. Liu et al., "SSD: Single shot multibox detector," in Proc. ECCV, 2016, pp. 21–37.</a:t>
            </a:r>
            <a:endParaRPr lang="en-US" sz="1610" dirty="0"/>
          </a:p>
        </p:txBody>
      </p:sp>
      <p:sp>
        <p:nvSpPr>
          <p:cNvPr id="11" name="Text 9"/>
          <p:cNvSpPr/>
          <p:nvPr/>
        </p:nvSpPr>
        <p:spPr>
          <a:xfrm>
            <a:off x="448056" y="4140860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[17] Y. Li et al., "Fabric defect detection based on improved YOLOv5," Text. Res. J., vol. 93, pp. 42–55, 2023.</a:t>
            </a:r>
            <a:endParaRPr lang="en-US" sz="1610" dirty="0"/>
          </a:p>
        </p:txBody>
      </p:sp>
      <p:sp>
        <p:nvSpPr>
          <p:cNvPr id="12" name="Text 10"/>
          <p:cNvSpPr/>
          <p:nvPr/>
        </p:nvSpPr>
        <p:spPr>
          <a:xfrm>
            <a:off x="448056" y="4665726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[18] G. Jocher, A. Chaurasia, and J. Qiu, "Ultralytics YOLOv8," Ultralytics, 2023. https://github.com/ultralytics/ultralytics</a:t>
            </a:r>
            <a:endParaRPr lang="en-US" sz="1610" dirty="0"/>
          </a:p>
        </p:txBody>
      </p:sp>
      <p:sp>
        <p:nvSpPr>
          <p:cNvPr id="13" name="Text 11"/>
          <p:cNvSpPr/>
          <p:nvPr/>
        </p:nvSpPr>
        <p:spPr>
          <a:xfrm>
            <a:off x="448056" y="5190592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[19] C.-Y. Wang et al., "YOLOv9: Learning via programmable gradient information," in Proc. ECCV, 2024.</a:t>
            </a:r>
            <a:endParaRPr lang="en-US" sz="1610" dirty="0"/>
          </a:p>
        </p:txBody>
      </p:sp>
      <p:sp>
        <p:nvSpPr>
          <p:cNvPr id="14" name="Text 12"/>
          <p:cNvSpPr/>
          <p:nvPr/>
        </p:nvSpPr>
        <p:spPr>
          <a:xfrm>
            <a:off x="448056" y="5715457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[20] A. Wang et al., "YOLOv10: Real-time end-to-end object detection," arXiv:2405.14458, 2024.</a:t>
            </a:r>
            <a:endParaRPr lang="en-US" sz="1610" dirty="0"/>
          </a:p>
        </p:txBody>
      </p:sp>
      <p:sp>
        <p:nvSpPr>
          <p:cNvPr id="15" name="Text 13"/>
          <p:cNvSpPr/>
          <p:nvPr/>
        </p:nvSpPr>
        <p:spPr>
          <a:xfrm>
            <a:off x="448056" y="6240323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[21] Y. Zhao et al., "DETRs beat YOLOs on real-time object detection," in Proc. IEEE CVPR, 2024.</a:t>
            </a:r>
            <a:endParaRPr lang="en-US" sz="1610" dirty="0"/>
          </a:p>
        </p:txBody>
      </p:sp>
      <p:sp>
        <p:nvSpPr>
          <p:cNvPr id="16" name="Text 14"/>
          <p:cNvSpPr/>
          <p:nvPr/>
        </p:nvSpPr>
        <p:spPr>
          <a:xfrm>
            <a:off x="448056" y="6765188"/>
            <a:ext cx="11969496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1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[22] S. Chen et al., "Scale-adaptive transformer for woven fabric defect detection," IEEE Trans. Autom. Sci. Eng., vol. 21, pp. 1402–1415, 2024.</a:t>
            </a:r>
            <a:endParaRPr lang="en-US" sz="16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819401"/>
            <a:ext cx="11521440" cy="1219200"/>
          </a:xfrm>
        </p:spPr>
        <p:txBody>
          <a:bodyPr>
            <a:normAutofit fontScale="90000"/>
          </a:bodyPr>
          <a:lstStyle/>
          <a:p>
            <a:r>
              <a:rPr lang="en-US" sz="10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98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15860</TotalTime>
  <Words>2619</Words>
  <Application>Microsoft Office PowerPoint</Application>
  <PresentationFormat>Custom</PresentationFormat>
  <Paragraphs>315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Office Theme</vt:lpstr>
      <vt:lpstr>Real-Time Fabric Defect Detection and Quality Assessment Using Improved YOLOv8 Classification Framework</vt:lpstr>
      <vt:lpstr>CONTENTS</vt:lpstr>
      <vt:lpstr>1.ABSTRACT</vt:lpstr>
      <vt:lpstr>2. INTRODUCTION</vt:lpstr>
      <vt:lpstr>3.LITERATURE SURVEY</vt:lpstr>
      <vt:lpstr>LITERATURE SURVEY (CONTD..,)</vt:lpstr>
      <vt:lpstr>LITERATURE SURVEY (CONTD..,)</vt:lpstr>
      <vt:lpstr>4. RESEARCH GAPS</vt:lpstr>
      <vt:lpstr>5. OBJECTIVES</vt:lpstr>
      <vt:lpstr>6. MODULE IDENTIFICATION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12. TIMELINE / GANTT CHART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APPROACH TO REDUCE LOAD ON CHANGE IMPACT ANALYSIS OVER SOFTWARE DEVELOPMENT</dc:title>
  <dc:creator>admin</dc:creator>
  <cp:lastModifiedBy>Hari Chandu Udayagiri</cp:lastModifiedBy>
  <cp:revision>144</cp:revision>
  <dcterms:created xsi:type="dcterms:W3CDTF">2020-07-13T09:49:45Z</dcterms:created>
  <dcterms:modified xsi:type="dcterms:W3CDTF">2026-04-06T12:11:38Z</dcterms:modified>
</cp:coreProperties>
</file>