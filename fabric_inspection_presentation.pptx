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76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48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64592"/>
            <a:ext cx="36576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M.Tech Project Work Final Review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4475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Fabric Defect Detection and Quality Assessment Using Improved YOLOv8 Classification Framework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97280" y="2697480"/>
            <a:ext cx="6949440" cy="0"/>
          </a:xfrm>
          <a:prstGeom prst="line">
            <a:avLst/>
          </a:prstGeom>
          <a:noFill/>
          <a:ln w="19050">
            <a:solidFill>
              <a:srgbClr val="4F81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044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Udayagiri Hari Chandu  (Reg. No: 24MAI1005)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319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M.Tech – Artificial Intelligence &amp; Machine Learning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6758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904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Geetha 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Professor &amp; Associate Dean (Research), Dept. of CSE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School of Computer Science and Engineering | Vellore Institute of Technology, Chennai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Abstract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rot="2700000">
            <a:off x="411480" y="804672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Introduction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rot="2700000">
            <a:off x="411480" y="1143000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624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Literature Survey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 rot="2700000">
            <a:off x="411480" y="1481328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007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Research Gaps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411480" y="1819656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39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Objectives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 rot="2700000">
            <a:off x="411480" y="2157984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Module Identification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 rot="2700000">
            <a:off x="411480" y="2496312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15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System Architecture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2700000">
            <a:off x="411480" y="2834640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685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Development &amp; Integration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 rot="2700000">
            <a:off x="4800600" y="804672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 Prototype / Research Framework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 rot="2700000">
            <a:off x="4800600" y="1143000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3624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 Outcome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 rot="2700000">
            <a:off x="4800600" y="1481328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7007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 Results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 rot="2700000">
            <a:off x="4800600" y="1819656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039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 Timeline / Gantt Chart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 rot="2700000">
            <a:off x="4800600" y="2157984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 References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 rot="2700000">
            <a:off x="4800600" y="2496312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Woven fabric inspection at industrial scale demands two capabilities that rarely appear together: a classifier fast enough to match live camera frame rates, and a decision engine that converts classification outputs into commercially actionable quality verdicts. This work presents a complete fabric inspection framework built around a modified YOLOv8 classification backbone trained on the TILDA Textile Texture Database (3,200 images, 8 textile types). After a systematic audit of its error classes, two calibration sequences (lamp-off and camera-distance variants) and one handling artifact (crease) were excluded, leaving four true defect categories: Holes, Stains, Broken Threads, and Misweaves.</a:t>
            </a:r>
            <a:endParaRPr lang="en-US" sz="1800" dirty="0"/>
          </a:p>
          <a:p>
            <a:pPr marL="0" indent="0" algn="l">
              <a:spcAft>
                <a:spcPts val="800"/>
              </a:spcAft>
              <a:buNone/>
            </a:pPr>
            <a:endParaRPr lang="en-US" sz="18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monitoring application wraps the classifier in a three-panel GUI delivering live annotated camera feed, session controls with user-defined market rate input, and a structured quality report on session termination. Quality score (0–100) is derived from per-class severity weighting; a quadratic price penalty maps the score to a suggested selling price. The system sustains 24 FPS on a standard laptop CPU without a GPU — suitable for deployment alongside textile inspection frames in factory environments.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INTRODUCTION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Fabric defect-driven write-offs account for 3–8% of total textile output value globally.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inspection degrades after prolonged operation, missing 15–20% of defects under fatigue.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looms exceed 200 m/hr — well beyond human inspection throughput.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requirements define an industrial-grade system: (1) ≥25 FPS real-time classification, (2) CPU-only deployment without GPU hardware, and (3) operator-interpretable quality output.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work adapts YOLOv8-cls to the TILDA benchmark with CLAHE preprocessing, domain-specific augmentation, and a quality-and-price reporting engine.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80760" y="777240"/>
            <a:ext cx="2743200" cy="1143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777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 FPS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0807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Laptop CPU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148840"/>
            <a:ext cx="2743200" cy="1143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8076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Top-1 Accuracy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3520440"/>
            <a:ext cx="2743200" cy="1143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Classes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Types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LITERATURE SURVEY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58368"/>
          <a:ext cx="8778240" cy="269748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Article Title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 Used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Findings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Learning (LeCun et al., 2015)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CNNs, backprop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CNNs learn discriminative features end-to-end; foundational for all visual inspection approaches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Requires large labelled datasets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Fabric defect detection using CNN vs SVM (Yang et al., 2020)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VGG-16 fine-tune, SVM-GLCM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reduced per-class FP rate by 34% over SVM baseline on multi-class fabric data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bounding-box localisation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Multi-scale feature + attention (Zhang et al., 2021)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ResNet-50 + SE blocks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+2.1 pp accuracy over plain ResNet for textile classification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Tested under controlled illumination only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on industrial camera (Ren et al., 2022)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Custom CNN, data aug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under variable lighting and belt speed conditions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 defect class; no quality scoring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(CONTD.)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58368"/>
          <a:ext cx="8778240" cy="269748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Article Title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 Used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Findings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Faster R-CNN for fabric (Zhou et al., 2023)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2-stage detection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per-class AP but &lt;18 FPS; incompatible with real-time line inspection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Latency too high for live deployment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YOLOv5 for fabric (Li et al., 2023)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YOLOv5 single-stage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 &gt;0.85 on in-house woven fabric dataset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Requires per-fabric anchor tuning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 (Jocher et al., 2023)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Anchor-free, C2f, decoupled head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SOTA on MS-COCO; anchor-free head avoids aspect-ratio tuning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validated on textile benchmark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YOLOv9 – PGI (Wang et al., 2024)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Programmable gradient information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+0.5 pp mAP@0.5:0.95 over YOLOv8 with 15% fewer parameters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Natural-image benchmark only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(CONTD.)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58368"/>
          <a:ext cx="8778240" cy="16764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Article Title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 Used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Findings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RT-DETR (Zhao et al., 2024)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 encoder + deformable attention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Matches YOLOv8 accuracy without NMS, lower end-to-end latency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tested on periodic-texture fabric data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Scale-adaptive transformer (Chen et al., 2024)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Swin transformer, multi-scale attention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Improved classification on woven fabric but stopped at classification step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quality assessment or price recommendation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RESEARCH GAPS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502920" cy="7772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858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70408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vs. Classification for whole-image datasets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978408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TILDA provides one label per image with no bounding boxes. Detection methods applied to such data require synthetic patch-pasting, which corrupts training — converging to P = 0.25 (random guessing). No prior work explicitly documents this failure mode.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746504"/>
            <a:ext cx="502920" cy="7772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7465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1764792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Uncleaned calibration classes in TILDA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2039112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of eight error classes (e6: lamp-off, e7: camera-distance) are imaging artifacts, not fabric defects. Inclusion corrupts classifier training. This finding is undocumented in prior TILDA-based publications.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807208"/>
            <a:ext cx="502920" cy="7772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80720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825496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closed-loop quality and price reporting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3099816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systems treat detection accuracy as the terminal output. The gap between raw defect counts and a commercially actionable selling-price recommendation has not been addressed in any published fabric inspection framework.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3867912"/>
            <a:ext cx="502920" cy="7772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86791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88620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 dependency prevents low-cost deployment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" y="4160520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published inspection systems require dedicated GPU hardware for real-time inference, precluding deployment at mid-scale mills without capital investment. CPU-deployable 24 FPS operation has not been demonstrated for multi-class fabric inspection.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04088"/>
            <a:ext cx="347472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04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6858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YOLOv8 classification pipeline specifically adapted for the TILDA textile benchmark, incorporating CLAHE contrast enhancement and a five-component augmentation strategy suited to the 8-bit greyscale acquisition conditions.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563624"/>
            <a:ext cx="347472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545336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Discover, document, and exclude the two previously unreported calibration error classes (e6 lamp-off, e7 camera-distance) that corrupt TILDA-based training when included.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2423160"/>
            <a:ext cx="347472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 novel quality scoring formula combining per-class severity weighting (Hole=10, Broken Thread=7, Misweave=5, Stain=3) with a quadratic price penalty function to produce commercially grounded selling-price recommendations.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" y="3282696"/>
            <a:ext cx="347472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2644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complete CPU-deployable real-time monitoring application with a three-panel graphical interface operable by non-specialist factory personnel at ≥24 FPS without a GPU.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4142232"/>
            <a:ext cx="347472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12394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 per-class accuracy to identify the broken-thread resolution bottleneck and propose a mechanistic explanation and architectural fix path for future work.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MODULE IDENTIFICATION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67512"/>
            <a:ext cx="4297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67512"/>
            <a:ext cx="4297680" cy="3200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67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 Capture Module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01498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OpenCV-based frame acquisition from USB/laptop camera. Writes frames to shared buffer protected by threading.Lock at up to 200 FPS ceiling.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084832"/>
            <a:ext cx="4297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084832"/>
            <a:ext cx="4297680" cy="3200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84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43230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CLAHE contrast enhancement (clip=2.0, tile 8×8), greyscale→RGB conversion, letterbox-pad to 640×640, centre-crop to 224×224 for inference.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502152"/>
            <a:ext cx="4297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502152"/>
            <a:ext cx="4297680" cy="3200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02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YOLOv8-cls Inference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384962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YOLOv8m-cls backbone with dense C2f connectivity. Runs every 3rd frame for CPU efficiency. Returns class name + confidence per frame.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667512"/>
            <a:ext cx="4297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667512"/>
            <a:ext cx="4297680" cy="3200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667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Logger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01498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 every defect event as (timestamp, class, confidence). In-memory during session; exports to structured CSV on demand.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084832"/>
            <a:ext cx="4297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084832"/>
            <a:ext cx="4297680" cy="3200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084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&amp; Price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243230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Computes weighted defect rate, quality score Q∈[0,100], letter grade A–F, and suggested price Ps = Pmax × (Q/100)².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554480" cy="10058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(USB/Laptop)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1280160"/>
            <a:ext cx="365760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117043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97D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777240"/>
            <a:ext cx="1554480" cy="10058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777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1280160"/>
            <a:ext cx="365760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17043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97D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777240"/>
            <a:ext cx="1554480" cy="100584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777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YOLOv8-cls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best.pt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1280160"/>
            <a:ext cx="365760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117043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97D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777240"/>
            <a:ext cx="1554480" cy="10058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777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1280160"/>
            <a:ext cx="365760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117043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97D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777240"/>
            <a:ext cx="1554480" cy="10058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777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Price Engine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" y="1965960"/>
            <a:ext cx="877824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0116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Threading Model: Camera thread → shared Lock buffer → Main thread polls every 30 ms via after() scheduler → Canvas refresh without queue flooding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" y="28346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Tkinter GUI — 3 Panels: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" y="3127248"/>
            <a:ext cx="2834640" cy="1764792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127248"/>
            <a:ext cx="2834640" cy="2926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Camera Panel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344728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640×480 feed · Defect class banner · Confidence · FPS · Colour-coded border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3127248"/>
            <a:ext cx="2834640" cy="1764792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3127248"/>
            <a:ext cx="2834640" cy="2926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Controls Panel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44728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rate entry · Confidence slider · Session timer · Start/Stop buttons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3127248"/>
            <a:ext cx="2834640" cy="1764792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127248"/>
            <a:ext cx="2834640" cy="2926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Panel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44728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breakdown · Quality score · Grade A–F · Suggested price · Export CSV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DEVELOPMENT &amp; INTEGRATION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4297680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13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Pipeline (Google Colab – T4 GPU)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014984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YOLOv8m-cls, ImageNet pretrained → TILDA fine-tune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CLAHE + letterbox preprocessing for all 2,008 images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70/15/15 stratified split | batch 32 | 50 epochs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AdamW + cosine annealing | FP16 AMP | patience 20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 rot="2700000">
            <a:off x="256032" y="1088136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256032" y="1472184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816352"/>
            <a:ext cx="4297680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Audit (Critical Finding)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118104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Systematically read all description .txt files per e-folder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e6 = lamp-off images → excluded (imaging artifact)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e7 = camera-distance calibration → excluded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4 true defect classes retained: Hole, Stain, Broken Thread, Misweave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 rot="2700000">
            <a:off x="256032" y="3191256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256032" y="3575304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256032" y="3959352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713232"/>
            <a:ext cx="4297680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713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Development (VS Code + Python)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1014984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OpenCV camera loop in background thread with Lock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Tkinter main thread polls buffer every 30 ms via after()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Inference every 3rd frame for CPU headroom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Session event log + CSV export with timestamped events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 rot="2700000">
            <a:off x="4736592" y="1088136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4736592" y="1472184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816352"/>
            <a:ext cx="4297680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Challenge &amp; Solution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118104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Challenge: Tkinter freezes when camera thread calls GUI methods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Solution: Strict thread isolation — camera never calls Tkinter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Result: Stable 24 FPS display on Intel i5 + Iris Xe, no GPU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Confidence threshold adjustable mid-session via slider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 rot="2700000">
            <a:off x="4736592" y="3191256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4736592" y="3575304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4736592" y="3959352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PROTOTYPE / RESEARCH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6751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4297680" cy="1170432"/>
          </a:xfrm>
          <a:prstGeom prst="rect">
            <a:avLst/>
          </a:prstGeom>
          <a:solidFill>
            <a:srgbClr val="EEF4FB"/>
          </a:solidFill>
          <a:ln w="1016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97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37160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YOLOv8m-cls (Ultralytics 8.4.33) · PyTorch 2.10 · CUDA 12.8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24128"/>
            <a:ext cx="4297680" cy="1170432"/>
          </a:xfrm>
          <a:prstGeom prst="rect">
            <a:avLst/>
          </a:prstGeom>
          <a:solidFill>
            <a:srgbClr val="F0F4F0"/>
          </a:solidFill>
          <a:ln w="1016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097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37160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Colab · NVIDIA Tesla T4 (14.9 GB VRAM) · FP16 AMP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322576"/>
            <a:ext cx="4297680" cy="1170432"/>
          </a:xfrm>
          <a:prstGeom prst="rect">
            <a:avLst/>
          </a:prstGeom>
          <a:solidFill>
            <a:srgbClr val="EEF4FB"/>
          </a:solidFill>
          <a:ln w="1016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3957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" y="267004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 CLAHE · PIL letterbox · 640×640 → 224×224 pipeline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322576"/>
            <a:ext cx="4297680" cy="1170432"/>
          </a:xfrm>
          <a:prstGeom prst="rect">
            <a:avLst/>
          </a:prstGeom>
          <a:solidFill>
            <a:srgbClr val="F0F4F0"/>
          </a:solidFill>
          <a:ln w="10160">
            <a:solidFill>
              <a:srgbClr val="4F81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23957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267004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3.14 · Tkinter GUI · OpenCV VideoCapture · threading.Lock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621024"/>
            <a:ext cx="4297680" cy="1170432"/>
          </a:xfrm>
          <a:prstGeom prst="rect">
            <a:avLst/>
          </a:prstGeom>
          <a:solidFill>
            <a:srgbClr val="EEF4FB"/>
          </a:solidFill>
          <a:ln w="10160">
            <a:solidFill>
              <a:srgbClr val="4F81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6941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" y="396849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 Core i5 · 8 GB RAM · Intel Iris Xe · No GPU required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621024"/>
            <a:ext cx="4297680" cy="1170432"/>
          </a:xfrm>
          <a:prstGeom prst="rect">
            <a:avLst/>
          </a:prstGeom>
          <a:solidFill>
            <a:srgbClr val="F0F4F0"/>
          </a:solidFill>
          <a:ln w="10160">
            <a:solidFill>
              <a:srgbClr val="4F81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36941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18888" y="396849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 with dual-section layout: summary table + chronological event log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OUTCOME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6751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Deliverables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97680" cy="1810512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4297680" cy="32918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YOLOv8m-cls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88.5% top-1 accuracy on TILDA test set. Classes: Hole (92%), Misweave (91%), Stain (88%), Broken Thread (83%). Exported as best.pt.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97680" cy="1810512"/>
          </a:xfrm>
          <a:prstGeom prst="rect">
            <a:avLst/>
          </a:prstGeom>
          <a:solidFill>
            <a:srgbClr val="FFFFFF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05840"/>
            <a:ext cx="4297680" cy="329184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Inspection 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389888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Three-panel Tkinter GUI sustaining 24 FPS on Intel i5 CPU. Live defect annotation with class-coded colour banners. Start/Stop session control.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2944368"/>
            <a:ext cx="4297680" cy="1810512"/>
          </a:xfrm>
          <a:prstGeom prst="rect">
            <a:avLst/>
          </a:prstGeom>
          <a:solidFill>
            <a:srgbClr val="FFFFFF"/>
          </a:solidFill>
          <a:ln w="25400">
            <a:solidFill>
              <a:srgbClr val="8064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944368"/>
            <a:ext cx="4297680" cy="329184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44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&amp; Price Report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3328416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grade A–F assignment and quadratic price suggestion on session stop. Full event-log CSV export for audit and traceability.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944368"/>
            <a:ext cx="4297680" cy="1810512"/>
          </a:xfrm>
          <a:prstGeom prst="rect">
            <a:avLst/>
          </a:prstGeom>
          <a:solidFill>
            <a:srgbClr val="FFFFFF"/>
          </a:solidFill>
          <a:ln w="25400">
            <a:solidFill>
              <a:srgbClr val="F796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944368"/>
            <a:ext cx="4297680" cy="32918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944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TILDA Dataset Audit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328416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documented finding that e6 (lamp-off) and e7 (camera-distance) in TILDA are calibration sequences, not fabric defects. Critical for all future TILDA users.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 Performance — TILDA Test Partition (300 images)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Top-1 Acc.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Hole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92.0%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Stain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Broken Thread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83.0%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Misweave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0.898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88.5%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28600" y="2944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Speed — Intel Core i5 Laptop, CPU Only (Batch = 1)</a:t>
            </a:r>
            <a:endParaRPr lang="en-US" sz="14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246120"/>
          <a:ext cx="8686800" cy="12192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FPS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Latency (ms)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YOLOv8s-cls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32.3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YOLOv8m-cls (Proposed)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41.7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YOLOv8l-cls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62.5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TIMELINE / GANTT CHART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8036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89720" y="667512"/>
            <a:ext cx="64008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667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" y="960120"/>
            <a:ext cx="26974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98755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&amp; Problem Definition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80360" y="960120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960120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960120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960120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960120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960120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9720" y="960120"/>
            <a:ext cx="6400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96012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7160" y="1490472"/>
            <a:ext cx="2697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151790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TILDA Dataset Analysis &amp; Audit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80360" y="1490472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0" y="1490472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1490472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490472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0" y="1490472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1490472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89720" y="1490472"/>
            <a:ext cx="640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37160" y="2020824"/>
            <a:ext cx="26974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204825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Pipeline (CLAHE)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80360" y="2020824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31920" y="2020824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83480" y="2020824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2020824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86600" y="2020824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0" y="2020824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89720" y="2020824"/>
            <a:ext cx="6400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89720" y="202082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37160" y="2551176"/>
            <a:ext cx="2697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257860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YOLOv8-cls Training (Colab)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880360" y="2551176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31920" y="2551176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83480" y="2551176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5040" y="2551176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86600" y="2551176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38160" y="2551176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89720" y="2551176"/>
            <a:ext cx="640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9720" y="255117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37160" y="3081528"/>
            <a:ext cx="26974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310896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Development (GUI)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880360" y="3081528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31920" y="3081528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83480" y="3081528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35040" y="3081528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86600" y="3081528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38160" y="3081528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89720" y="3081528"/>
            <a:ext cx="6400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89720" y="30815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137160" y="3611880"/>
            <a:ext cx="2697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363931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&amp; Price Engine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880360" y="361188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31920" y="361188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83480" y="361188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35040" y="361188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086600" y="3611880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38160" y="361188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189720" y="3611880"/>
            <a:ext cx="640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89720" y="36118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137160" y="4142232"/>
            <a:ext cx="26974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2880" y="416966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Bug Fixing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880360" y="4142232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931920" y="4142232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83480" y="4142232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035040" y="4142232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86600" y="4142232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138160" y="4142232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89720" y="4142232"/>
            <a:ext cx="6400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189720" y="414223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137160" y="4672584"/>
            <a:ext cx="2697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2880" y="470001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Writing &amp; Submission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880360" y="467258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931920" y="467258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983480" y="467258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35040" y="467258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86600" y="467258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38160" y="4672584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89720" y="4672584"/>
            <a:ext cx="640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189720" y="467258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5100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REFERENCES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67512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H. Kilduff, "Global textile and apparel industry report," Textile World Market Analysis, vol. 14, no. 2, pp. 1–18, 2022.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A. Kumar, "Computer-vision-based fabric defect detection: A survey," IEEE Trans. Ind. Electron., vol. 55, no. 1, pp. 348–363, 2008.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J. Yang et al., "Fabric defect detection using a CNN compared with a SVM," J. Text. Inst., vol. 111, no. 12, pp. 1834–1843, 2020.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56816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Y. LeCun, Y. Bengio, and G. Hinton, "Deep learning," Nature, vol. 521, pp. 436–444, 2015.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86584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J. Redmon et al., "You only look once: Unified, real-time object detection," in Proc. IEEE CVPR, 2016, pp. 779–788.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816352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H. Y. T. Ngan et al., "Automated fabric defect detection — a review," Image Vis. Comput., vol. 29, no. 7, pp. 442–458, 2011.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246120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R. M. Haralick et al., "Textural features for image classification," IEEE Trans. Syst., Man, Cybern., vol. SMC-3, pp. 610–621, 1973.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675888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S. Mallat, "A theory for multiresolution signal decomposition," IEEE Trans. PAMI, vol. 11, pp. 674–693, 1989.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105656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K. He et al., "Deep residual learning for image recognition," in Proc. IEEE CVPR, 2016, pp. 770–778.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535424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X. Zhang et al., "Fabric defect detection with multi-scale features and attention," IEEE Trans. Ind. Informat., vol. 18, no. 9, pp. 6152–6160, 2021.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(CONTD.)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67512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[11] H. Schulz-Mirbach, "Ein Referenzdatensatz zur Evaluierung von Sichtprüfungsverfahren," Univ. of Hamburg, 1995. https://lmb.informatik.uni-freiburg.de/resources/datasets/tilda.en.html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" y="1042416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J. Hu, L. Shen, and G. Sun, "Squeeze-and-excitation networks," in Proc. IEEE CVPR, 2018, pp. 7132–7141.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[13] Z. Ren et al., "Automated textile defect recognition using a deep CNN," Appl. Sci., vol. 12, no. 5, p. 2549, 2022.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792224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[14] S. Ren et al., "Faster R-CNN: Towards real-time object detection with region proposal networks," NeurIPS, 2015.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167128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[15] F. Zhou et al., "Multi-class fabric defect detection using improved Faster R-CNN," Pattern Recognit. Image Anal., vol. 33, pp. 312–323, 2023.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542032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[16] W. Liu et al., "SSD: Single shot multibox detector," in Proc. ECCV, 2016, pp. 21–37.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2916936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[17] Y. Li et al., "Fabric defect detection based on improved YOLOv5," Text. Res. J., vol. 93, pp. 42–55, 2023.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[18] G. Jocher, A. Chaurasia, and J. Qiu, "Ultralytics YOLOv8," Ultralytics, 2023. https://github.com/ultralytics/ultralytics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3666744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[19] C.-Y. Wang et al., "YOLOv9: Learning via programmable gradient information," in Proc. ECCV, 2024.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4041648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[20] A. Wang et al., "YOLOv10: Real-time end-to-end object detection," arXiv:2405.14458, 2024.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4416552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[21] Y. Zhao et al., "DETRs beat YOLOs on real-time object detection," in Proc. IEEE CVPR, 2024.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4791456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[22] S. Chen et al., "Scale-adaptive transformer for woven fabric defect detection," IEEE Trans. Autom. Sci. Eng., vol. 21, pp. 1402–1415, 2024.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28600"/>
            <a:ext cx="36576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2286000" y="2880360"/>
            <a:ext cx="4572000" cy="0"/>
          </a:xfrm>
          <a:prstGeom prst="line">
            <a:avLst/>
          </a:prstGeom>
          <a:noFill/>
          <a:ln w="19050">
            <a:solidFill>
              <a:srgbClr val="4F81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944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any queries, please contact: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Udayagiri Hari Chandu  |  hchandu553@gmail.com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547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 Dr. Geetha S  |  geetha.s@vit.ac.in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AI &amp; ML | Vellore Institute of Technology, Chennai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2734</Words>
  <Application>Microsoft Office PowerPoint</Application>
  <PresentationFormat>On-screen Show (16:9)</PresentationFormat>
  <Paragraphs>345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Fabric Defect Detection</dc:title>
  <dc:subject>PptxGenJS Presentation</dc:subject>
  <dc:creator>Udayagiri Hari Chandu</dc:creator>
  <cp:lastModifiedBy>Hari Chandu Udayagiri</cp:lastModifiedBy>
  <cp:revision>4</cp:revision>
  <dcterms:created xsi:type="dcterms:W3CDTF">2026-04-05T14:42:29Z</dcterms:created>
  <dcterms:modified xsi:type="dcterms:W3CDTF">2026-04-06T10:28:25Z</dcterms:modified>
</cp:coreProperties>
</file>